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320040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0"/>
            <a:ext cx="12191695" cy="320040"/>
          </a:xfrm>
          <a:prstGeom prst="rect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320040"/>
          </a:xfrm>
          <a:prstGeom prst="rect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640080"/>
            <a:ext cx="1097280" cy="1097280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95560" y="960120"/>
            <a:ext cx="457200" cy="457200"/>
          </a:xfrm>
          <a:prstGeom prst="ellipse">
            <a:avLst/>
          </a:prstGeom>
          <a:solidFill>
            <a:srgbClr val="081C30"/>
          </a:solidFill>
          <a:ln>
            <a:solidFill>
              <a:srgbClr val="08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685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3000" b="1" i="0">
                <a:solidFill>
                  <a:srgbClr val="F8FCFD"/>
                </a:solidFill>
                <a:latin typeface="Aptos"/>
              </a:rPr>
              <a:t>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7955279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F8FCFD"/>
                </a:solidFill>
                <a:latin typeface="Aptos"/>
              </a:rPr>
              <a:t>AQUAGUARD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89611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DDF0F2"/>
                </a:solidFill>
                <a:latin typeface="Aptos"/>
              </a:rPr>
              <a:t>Community Water Quality &amp; Usage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90672"/>
            <a:ext cx="89611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DCBD4"/>
                </a:solidFill>
                <a:latin typeface="Aptos"/>
              </a:rPr>
              <a:t>Monitor water. Detect problems. Encourage conservation.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22191"/>
            <a:ext cx="2148840" cy="384048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895344"/>
            <a:ext cx="1920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8FCFD"/>
                </a:solidFill>
                <a:latin typeface="Aptos"/>
              </a:rPr>
              <a:t>HACK-AI-THON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90288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6FE7BF"/>
                </a:solidFill>
                <a:latin typeface="Aptos"/>
              </a:rPr>
              <a:t>SDG 6  •  SDG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10912"/>
            <a:ext cx="6217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9DBCC5"/>
                </a:solidFill>
                <a:latin typeface="Aptos"/>
              </a:rPr>
              <a:t>Python Fundamentals + Object-Oriented 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NATIONAL LEVEL GROUP PROJECT  •  PYTHON + OOP + SDGs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Why AquaGuard?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10607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DDF0F2"/>
                </a:solidFill>
                <a:latin typeface="Aptos"/>
              </a:rPr>
              <a:t>Water problems are often invisible until they become serious.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23160"/>
            <a:ext cx="3401568" cy="2331720"/>
          </a:xfrm>
          <a:prstGeom prst="roundRect">
            <a:avLst/>
          </a:prstGeom>
          <a:solidFill>
            <a:srgbClr val="0F2D3E"/>
          </a:solidFill>
          <a:ln>
            <a:solidFill>
              <a:srgbClr val="1B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2679192"/>
            <a:ext cx="475488" cy="475488"/>
          </a:xfrm>
          <a:prstGeom prst="ellipse">
            <a:avLst/>
          </a:prstGeom>
          <a:solidFill>
            <a:srgbClr val="F4B43E"/>
          </a:solidFill>
          <a:ln>
            <a:solidFill>
              <a:srgbClr val="F4B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88336"/>
            <a:ext cx="4389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8FCFD"/>
                </a:solidFill>
                <a:latin typeface="Aptos"/>
              </a:rPr>
              <a:t>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310128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8FCFD"/>
                </a:solidFill>
                <a:latin typeface="Aptos"/>
              </a:rPr>
              <a:t>Excessive usage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730752"/>
            <a:ext cx="2816352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Daily water use can rise without users noticing.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2423160"/>
            <a:ext cx="3401568" cy="2331720"/>
          </a:xfrm>
          <a:prstGeom prst="roundRect">
            <a:avLst/>
          </a:prstGeom>
          <a:solidFill>
            <a:srgbClr val="0F2D3E"/>
          </a:solidFill>
          <a:ln>
            <a:solidFill>
              <a:srgbClr val="1B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2679192"/>
            <a:ext cx="475488" cy="475488"/>
          </a:xfrm>
          <a:prstGeom prst="ellipse">
            <a:avLst/>
          </a:prstGeom>
          <a:solidFill>
            <a:srgbClr val="EC5B5B"/>
          </a:solidFill>
          <a:ln>
            <a:solidFill>
              <a:srgbClr val="EC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688336"/>
            <a:ext cx="4389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8FCFD"/>
                </a:solidFill>
                <a:latin typeface="Aptos"/>
              </a:rPr>
              <a:t>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310128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8FCFD"/>
                </a:solidFill>
                <a:latin typeface="Aptos"/>
              </a:rPr>
              <a:t>Quality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730752"/>
            <a:ext cx="2816352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Unusual pH or turbidity can signal a problem.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2423160"/>
            <a:ext cx="3401568" cy="2331720"/>
          </a:xfrm>
          <a:prstGeom prst="roundRect">
            <a:avLst/>
          </a:prstGeom>
          <a:solidFill>
            <a:srgbClr val="0F2D3E"/>
          </a:solidFill>
          <a:ln>
            <a:solidFill>
              <a:srgbClr val="1B4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85048" y="2679192"/>
            <a:ext cx="475488" cy="475488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6" y="2688336"/>
            <a:ext cx="43891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8FCFD"/>
                </a:solidFill>
                <a:latin typeface="Aptos"/>
              </a:rP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3310128"/>
            <a:ext cx="2834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8FCFD"/>
                </a:solidFill>
                <a:latin typeface="Aptos"/>
              </a:rPr>
              <a:t>Changing trends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730752"/>
            <a:ext cx="2816352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A simple trend can reveal possible wastage.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166360"/>
            <a:ext cx="10972800" cy="749808"/>
          </a:xfrm>
          <a:prstGeom prst="roundRect">
            <a:avLst/>
          </a:prstGeom>
          <a:solidFill>
            <a:srgbClr val="0C3446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358384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CFD"/>
                </a:solidFill>
                <a:latin typeface="Aptos"/>
              </a:rPr>
              <a:t>AquaGuard's goal: </a:t>
            </a:r>
            <a:r>
              <a:rPr sz="1500" b="0">
                <a:solidFill>
                  <a:srgbClr val="DDF0F2"/>
                </a:solidFill>
                <a:latin typeface="Aptos"/>
              </a:rPr>
              <a:t>turn simple observations into clear alerts, trends and actions.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What AquaGuard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074920" cy="1572768"/>
          </a:xfrm>
          <a:prstGeom prst="roundRect">
            <a:avLst/>
          </a:prstGeom>
          <a:solidFill>
            <a:srgbClr val="0F2D3E"/>
          </a:solidFill>
          <a:ln>
            <a:solidFill>
              <a:srgbClr val="1D4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DCBD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84248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8FCFD"/>
                </a:solidFill>
                <a:latin typeface="Aptos"/>
              </a:rPr>
              <a:t>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04872"/>
            <a:ext cx="37947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Location, user and daily water readings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83080"/>
            <a:ext cx="5074920" cy="1572768"/>
          </a:xfrm>
          <a:prstGeom prst="roundRect">
            <a:avLst/>
          </a:prstGeom>
          <a:solidFill>
            <a:srgbClr val="0F2D3E"/>
          </a:solidFill>
          <a:ln>
            <a:solidFill>
              <a:srgbClr val="1D4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011680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DCBD4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984248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8FCFD"/>
                </a:solidFill>
                <a:latin typeface="Aptos"/>
              </a:rPr>
              <a:t>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404872"/>
            <a:ext cx="37947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pH, turbidity and consumption against selected limits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5074920" cy="1572768"/>
          </a:xfrm>
          <a:prstGeom prst="roundRect">
            <a:avLst/>
          </a:prstGeom>
          <a:solidFill>
            <a:srgbClr val="0F2D3E"/>
          </a:solidFill>
          <a:ln>
            <a:solidFill>
              <a:srgbClr val="1D4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069080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DCBD4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041648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8FCFD"/>
                </a:solidFill>
                <a:latin typeface="Aptos"/>
              </a:rPr>
              <a:t>FLAG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462272"/>
            <a:ext cx="37947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Unsafe or abnormal conditions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840480"/>
            <a:ext cx="5074920" cy="1572768"/>
          </a:xfrm>
          <a:prstGeom prst="roundRect">
            <a:avLst/>
          </a:prstGeom>
          <a:solidFill>
            <a:srgbClr val="0F2D3E"/>
          </a:solidFill>
          <a:ln>
            <a:solidFill>
              <a:srgbClr val="1D4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069080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DCBD4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041648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8FCFD"/>
                </a:solidFill>
                <a:latin typeface="Aptos"/>
              </a:rPr>
              <a:t>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462272"/>
            <a:ext cx="37947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Trends, alerts and conservation recommendations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5806440"/>
            <a:ext cx="7223760" cy="384048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5888736"/>
            <a:ext cx="6949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8FCFD"/>
                </a:solidFill>
                <a:latin typeface="Aptos"/>
              </a:rPr>
              <a:t>SIMPLE INPUT  →  CLEAR DECISION  →  ACTIONABLE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SDG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Built around SDG 6 + SDG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3337560"/>
          </a:xfrm>
          <a:prstGeom prst="roundRect">
            <a:avLst/>
          </a:prstGeom>
          <a:solidFill>
            <a:srgbClr val="093950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11887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2DCBD4"/>
                </a:solidFill>
                <a:latin typeface="Aptos"/>
              </a:rPr>
              <a:t>SDG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79192"/>
            <a:ext cx="43891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8FCFD"/>
                </a:solidFill>
                <a:latin typeface="Aptos"/>
              </a:rPr>
              <a:t>Clean Water &amp; Sanitation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419856"/>
            <a:ext cx="82296" cy="82296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337560"/>
            <a:ext cx="42793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DF0F2"/>
                </a:solidFill>
                <a:latin typeface="Aptos"/>
              </a:rPr>
              <a:t>Monitors basic water-quality observations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904487"/>
            <a:ext cx="82296" cy="82296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822191"/>
            <a:ext cx="42793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DF0F2"/>
                </a:solidFill>
                <a:latin typeface="Aptos"/>
              </a:rPr>
              <a:t>Flags potentially unsafe pH and turbidity readings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389120"/>
            <a:ext cx="82296" cy="82296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4306824"/>
            <a:ext cx="42793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DF0F2"/>
                </a:solidFill>
                <a:latin typeface="Aptos"/>
              </a:rPr>
              <a:t>Encourages further testing when readings are abnormal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5303520" cy="3337560"/>
          </a:xfrm>
          <a:prstGeom prst="roundRect">
            <a:avLst/>
          </a:prstGeom>
          <a:solidFill>
            <a:srgbClr val="0A4339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48840"/>
            <a:ext cx="12801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6FE7BF"/>
                </a:solidFill>
                <a:latin typeface="Aptos"/>
              </a:rPr>
              <a:t>SDG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79192"/>
            <a:ext cx="43891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8FCFD"/>
                </a:solidFill>
                <a:latin typeface="Aptos"/>
              </a:rPr>
              <a:t>Responsible Consumption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0" y="3419856"/>
            <a:ext cx="82296" cy="82296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3337560"/>
            <a:ext cx="42793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DF0F2"/>
                </a:solidFill>
                <a:latin typeface="Aptos"/>
              </a:rPr>
              <a:t>Tracks daily water consumption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3904487"/>
            <a:ext cx="82296" cy="82296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3822191"/>
            <a:ext cx="42793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DF0F2"/>
                </a:solidFill>
                <a:latin typeface="Aptos"/>
              </a:rPr>
              <a:t>Flags excessive use using a selected limit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4389120"/>
            <a:ext cx="82296" cy="82296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4306824"/>
            <a:ext cx="42793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DF0F2"/>
                </a:solidFill>
                <a:latin typeface="Aptos"/>
              </a:rPr>
              <a:t>Suggests conservation actions and leak checks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23560"/>
            <a:ext cx="106984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DDF0F2"/>
                </a:solidFill>
                <a:latin typeface="Aptos"/>
              </a:rPr>
              <a:t>The challenge explicitly aligns AquaGuard with SDG 6 and SDG 12.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Simple OOP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1508760"/>
          </a:xfrm>
          <a:prstGeom prst="roundRect">
            <a:avLst/>
          </a:prstGeom>
          <a:solidFill>
            <a:srgbClr val="0F2D3E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139696"/>
            <a:ext cx="201168" cy="201168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2057400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8FCFD"/>
                </a:solidFill>
                <a:latin typeface="Aptos"/>
              </a:rPr>
              <a:t>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542032"/>
            <a:ext cx="4343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9DBCC5"/>
                </a:solidFill>
                <a:latin typeface="Aptos"/>
              </a:rPr>
              <a:t>name • address • location_type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303520" cy="1508760"/>
          </a:xfrm>
          <a:prstGeom prst="roundRect">
            <a:avLst/>
          </a:prstGeom>
          <a:solidFill>
            <a:srgbClr val="0F2D3E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19672" y="2139696"/>
            <a:ext cx="201168" cy="201168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1" y="2057400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8FCFD"/>
                </a:solidFill>
                <a:latin typeface="Aptos"/>
              </a:rPr>
              <a:t>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1" y="2542032"/>
            <a:ext cx="4343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9DBCC5"/>
                </a:solidFill>
                <a:latin typeface="Aptos"/>
              </a:rPr>
              <a:t>user_id • name • role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5303520" cy="1508760"/>
          </a:xfrm>
          <a:prstGeom prst="roundRect">
            <a:avLst/>
          </a:prstGeom>
          <a:solidFill>
            <a:srgbClr val="0F2D3E"/>
          </a:solidFill>
          <a:ln>
            <a:solidFill>
              <a:srgbClr val="F4B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4197096"/>
            <a:ext cx="201168" cy="201168"/>
          </a:xfrm>
          <a:prstGeom prst="ellipse">
            <a:avLst/>
          </a:prstGeom>
          <a:solidFill>
            <a:srgbClr val="F4B43E"/>
          </a:solidFill>
          <a:ln>
            <a:solidFill>
              <a:srgbClr val="F4B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114800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8FCFD"/>
                </a:solidFill>
                <a:latin typeface="Aptos"/>
              </a:rPr>
              <a:t>WaterReading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599432"/>
            <a:ext cx="4343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9DBCC5"/>
                </a:solidFill>
                <a:latin typeface="Aptos"/>
              </a:rPr>
              <a:t>date • location • user • consumption • pH • turbidity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886200"/>
            <a:ext cx="5303520" cy="1508760"/>
          </a:xfrm>
          <a:prstGeom prst="roundRect">
            <a:avLst/>
          </a:prstGeom>
          <a:solidFill>
            <a:srgbClr val="0F2D3E"/>
          </a:solidFill>
          <a:ln>
            <a:solidFill>
              <a:srgbClr val="EC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9672" y="4197096"/>
            <a:ext cx="201168" cy="201168"/>
          </a:xfrm>
          <a:prstGeom prst="ellipse">
            <a:avLst/>
          </a:prstGeom>
          <a:solidFill>
            <a:srgbClr val="EC5B5B"/>
          </a:solidFill>
          <a:ln>
            <a:solidFill>
              <a:srgbClr val="EC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1" y="4114800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8FCFD"/>
                </a:solidFill>
                <a:latin typeface="Aptos"/>
              </a:rPr>
              <a:t>MonitoringReport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1" y="4599432"/>
            <a:ext cx="4343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9DBCC5"/>
                </a:solidFill>
                <a:latin typeface="Aptos"/>
              </a:rPr>
              <a:t>readings • trends • alerts • recommendations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715000"/>
            <a:ext cx="10789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DDF0F2"/>
                </a:solidFill>
                <a:latin typeface="Aptos"/>
              </a:rPr>
              <a:t>Four focused classes keep the prototype understandable and aligned with the OOP requirement.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From reading to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331720" cy="1143000"/>
          </a:xfrm>
          <a:prstGeom prst="roundRect">
            <a:avLst/>
          </a:prstGeom>
          <a:solidFill>
            <a:srgbClr val="0F2D3E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57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F8FCFD"/>
                </a:solidFill>
                <a:latin typeface="Aptos"/>
              </a:rPr>
              <a:t>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075688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CFD"/>
                </a:solidFill>
                <a:latin typeface="Aptos"/>
              </a:rPr>
              <a:t>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4952" y="2148840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DCBD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28800"/>
            <a:ext cx="2331720" cy="1143000"/>
          </a:xfrm>
          <a:prstGeom prst="roundRect">
            <a:avLst/>
          </a:prstGeom>
          <a:solidFill>
            <a:srgbClr val="0F2D3E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011680"/>
            <a:ext cx="457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F8FCFD"/>
                </a:solidFill>
                <a:latin typeface="Aptos"/>
              </a:rP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2075688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CFD"/>
                </a:solidFill>
                <a:latin typeface="Aptos"/>
              </a:rPr>
              <a:t>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3872" y="2148840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DCBD4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2331720" cy="1143000"/>
          </a:xfrm>
          <a:prstGeom prst="roundRect">
            <a:avLst/>
          </a:prstGeom>
          <a:solidFill>
            <a:srgbClr val="0F2D3E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457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F8FCFD"/>
                </a:solidFill>
                <a:latin typeface="Aptos"/>
              </a:rPr>
              <a:t>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75688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CFD"/>
                </a:solidFill>
                <a:latin typeface="Aptos"/>
              </a:rPr>
              <a:t>Water Reading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2" y="2148840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DCBD4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39" y="1828800"/>
            <a:ext cx="2331720" cy="1143000"/>
          </a:xfrm>
          <a:prstGeom prst="roundRect">
            <a:avLst/>
          </a:prstGeom>
          <a:solidFill>
            <a:srgbClr val="0F2D3E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3999" y="2011680"/>
            <a:ext cx="457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F8FCFD"/>
                </a:solidFill>
                <a:latin typeface="Aptos"/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5207" y="2075688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CFD"/>
                </a:solidFill>
                <a:latin typeface="Aptos"/>
              </a:rPr>
              <a:t>Threshold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94391" y="3072384"/>
            <a:ext cx="320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DCBD4"/>
                </a:solidFill>
                <a:latin typeface="Aptos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77639"/>
            <a:ext cx="2331720" cy="1143000"/>
          </a:xfrm>
          <a:prstGeom prst="roundRect">
            <a:avLst/>
          </a:prstGeom>
          <a:solidFill>
            <a:srgbClr val="0F2D3E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60520"/>
            <a:ext cx="457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F8FCFD"/>
                </a:solidFill>
                <a:latin typeface="Aptos"/>
              </a:rPr>
              <a:t>⚠️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4224527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CFD"/>
                </a:solidFill>
                <a:latin typeface="Aptos"/>
              </a:rPr>
              <a:t>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4952" y="4297679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DCBD4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4952" y="4297679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DCBD4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3977639"/>
            <a:ext cx="2331720" cy="1143000"/>
          </a:xfrm>
          <a:prstGeom prst="roundRect">
            <a:avLst/>
          </a:prstGeom>
          <a:solidFill>
            <a:srgbClr val="0F2D3E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4160520"/>
            <a:ext cx="457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F8FCFD"/>
                </a:solidFill>
                <a:latin typeface="Aptos"/>
              </a:rPr>
              <a:t>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7368" y="4224527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CFD"/>
                </a:solidFill>
                <a:latin typeface="Aptos"/>
              </a:rPr>
              <a:t>Trend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3872" y="4297679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DCBD4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3872" y="4297679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DCBD4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977639"/>
            <a:ext cx="2331720" cy="1143000"/>
          </a:xfrm>
          <a:prstGeom prst="roundRect">
            <a:avLst/>
          </a:prstGeom>
          <a:solidFill>
            <a:srgbClr val="0F2D3E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160520"/>
            <a:ext cx="457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F8FCFD"/>
                </a:solidFill>
                <a:latin typeface="Aptos"/>
              </a:rPr>
              <a:t>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4224527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CFD"/>
                </a:solidFill>
                <a:latin typeface="Aptos"/>
              </a:rPr>
              <a:t>Recommendations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2792" y="4297679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DCBD4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22792" y="4297679"/>
            <a:ext cx="320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2DCBD4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839" y="3977639"/>
            <a:ext cx="2331720" cy="1143000"/>
          </a:xfrm>
          <a:prstGeom prst="roundRect">
            <a:avLst/>
          </a:prstGeom>
          <a:solidFill>
            <a:srgbClr val="0F2D3E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3999" y="4160520"/>
            <a:ext cx="457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F8FCFD"/>
                </a:solidFill>
                <a:latin typeface="Aptos"/>
              </a:rPr>
              <a:t>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65207" y="4224527"/>
            <a:ext cx="1417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CFD"/>
                </a:solidFill>
                <a:latin typeface="Aptos"/>
              </a:rPr>
              <a:t>Report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48840" y="5577840"/>
            <a:ext cx="7909560" cy="457200"/>
          </a:xfrm>
          <a:prstGeom prst="roundRect">
            <a:avLst/>
          </a:prstGeom>
          <a:solidFill>
            <a:srgbClr val="0B3748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31720" y="5687568"/>
            <a:ext cx="7543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DCBD4"/>
                </a:solidFill>
                <a:latin typeface="Aptos"/>
              </a:rPr>
              <a:t>INPUT  →  ANALYSIS  →  ALERTS  →  CONSERVATION 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How abnormal readings are detected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01568" cy="2011680"/>
          </a:xfrm>
          <a:prstGeom prst="roundRect">
            <a:avLst/>
          </a:prstGeom>
          <a:solidFill>
            <a:srgbClr val="0F2D3E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84831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9DBCC5"/>
                </a:solidFill>
                <a:latin typeface="Aptos"/>
              </a:rPr>
              <a:t>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42032"/>
            <a:ext cx="2834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F8FCFD"/>
                </a:solidFill>
                <a:latin typeface="Aptos"/>
              </a:rPr>
              <a:t>6.5 – 8.5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63824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Safe range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28800"/>
            <a:ext cx="3401568" cy="2011680"/>
          </a:xfrm>
          <a:prstGeom prst="roundRect">
            <a:avLst/>
          </a:prstGeom>
          <a:solidFill>
            <a:srgbClr val="0F2D3E"/>
          </a:solidFill>
          <a:ln>
            <a:solidFill>
              <a:srgbClr val="F4B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84831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9DBCC5"/>
                </a:solidFill>
                <a:latin typeface="Aptos"/>
              </a:rPr>
              <a:t>Turbidity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42032"/>
            <a:ext cx="2834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F8FCFD"/>
                </a:solidFill>
                <a:latin typeface="Aptos"/>
              </a:rPr>
              <a:t>≤ 5.0 NTU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163824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4B43E"/>
                </a:solidFill>
                <a:latin typeface="Aptos"/>
              </a:rPr>
              <a:t>Selected limit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828800"/>
            <a:ext cx="3401568" cy="2011680"/>
          </a:xfrm>
          <a:prstGeom prst="roundRect">
            <a:avLst/>
          </a:prstGeom>
          <a:solidFill>
            <a:srgbClr val="0F2D3E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7" y="2084831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9DBCC5"/>
                </a:solidFill>
                <a:latin typeface="Aptos"/>
              </a:rPr>
              <a:t>Consumption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7" y="2542032"/>
            <a:ext cx="2834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F8FCFD"/>
                </a:solidFill>
                <a:latin typeface="Aptos"/>
              </a:rPr>
              <a:t>≤ 500 L/day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7" y="3163824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FE7BF"/>
                </a:solidFill>
                <a:latin typeface="Aptos"/>
              </a:rPr>
              <a:t>Selected limit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51960"/>
            <a:ext cx="10972800" cy="1097280"/>
          </a:xfrm>
          <a:prstGeom prst="roundRect">
            <a:avLst/>
          </a:prstGeom>
          <a:solidFill>
            <a:srgbClr val="0A2F3F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374903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CFD"/>
                </a:solidFill>
                <a:latin typeface="Aptos"/>
              </a:rPr>
              <a:t>If a reading crosses a selected threshold: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480560"/>
            <a:ext cx="6309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DCBD4"/>
                </a:solidFill>
                <a:latin typeface="Aptos"/>
              </a:rPr>
              <a:t>→ abnormal condition  →  alert  →  recommendation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9DBCC5"/>
                </a:solidFill>
                <a:latin typeface="Aptos"/>
              </a:rPr>
              <a:t>Note: threshold values are project-defined demonstration values, not numbers supplied by the challenge.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DEMO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Representative sample readings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68580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DDF0F2"/>
                </a:solidFill>
                <a:latin typeface="Aptos"/>
              </a:rPr>
              <a:t>House 12B  •  Green Park Colony  •  Household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29968"/>
            <a:ext cx="4937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9DBCC5"/>
                </a:solidFill>
                <a:latin typeface="Aptos"/>
              </a:rPr>
              <a:t>Recorded by: Priya Sharma (U101)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737360" cy="502920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1" y="2752344"/>
            <a:ext cx="15910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8FCFD"/>
                </a:solidFill>
                <a:latin typeface="Aptos"/>
              </a:rPr>
              <a:t>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39" y="2606040"/>
            <a:ext cx="2011680" cy="502920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1" y="2752344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8FCFD"/>
                </a:solidFill>
                <a:latin typeface="Aptos"/>
              </a:rPr>
              <a:t>CONSUMPTION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606040"/>
            <a:ext cx="1463040" cy="502920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752344"/>
            <a:ext cx="13167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8FCFD"/>
                </a:solidFill>
                <a:latin typeface="Aptos"/>
              </a:rPr>
              <a:t>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606040"/>
            <a:ext cx="1920240" cy="502920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5312" y="2752344"/>
            <a:ext cx="17739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8FCFD"/>
                </a:solidFill>
                <a:latin typeface="Aptos"/>
              </a:rPr>
              <a:t>TURBIDITY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606040"/>
            <a:ext cx="2011680" cy="502920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2752344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8FCFD"/>
                </a:solidFill>
                <a:latin typeface="Aptos"/>
              </a:rPr>
              <a:t>QUALITY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72968"/>
            <a:ext cx="173736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1" y="3319272"/>
            <a:ext cx="15910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2026-09-10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39" y="3172968"/>
            <a:ext cx="201168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50591" y="3319272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320 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172968"/>
            <a:ext cx="146304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3319272"/>
            <a:ext cx="13167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7.1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3172968"/>
            <a:ext cx="192024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25312" y="3319272"/>
            <a:ext cx="17739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2.3 NTU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3172968"/>
            <a:ext cx="201168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3319272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41BE7D"/>
                </a:solidFill>
                <a:latin typeface="Aptos"/>
              </a:rPr>
              <a:t>SAFE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813048"/>
            <a:ext cx="173736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1" y="3959352"/>
            <a:ext cx="15910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2026-09-11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39" y="3813048"/>
            <a:ext cx="201168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50591" y="3959352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450 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813048"/>
            <a:ext cx="146304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62272" y="3959352"/>
            <a:ext cx="13167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6.2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52160" y="3813048"/>
            <a:ext cx="192024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25312" y="3959352"/>
            <a:ext cx="17739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6.8 NTU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3813048"/>
            <a:ext cx="201168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5552" y="3959352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EC5B5B"/>
                </a:solidFill>
                <a:latin typeface="Aptos"/>
              </a:rPr>
              <a:t>UNSAFE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453128"/>
            <a:ext cx="173736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1" y="4599432"/>
            <a:ext cx="15910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2026-09-12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77439" y="4453128"/>
            <a:ext cx="201168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50591" y="4599432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510 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89120" y="4453128"/>
            <a:ext cx="146304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62272" y="4599432"/>
            <a:ext cx="13167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7.4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52160" y="4453128"/>
            <a:ext cx="192024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25312" y="4599432"/>
            <a:ext cx="17739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DDF0F2"/>
                </a:solidFill>
                <a:latin typeface="Aptos"/>
              </a:rPr>
              <a:t>3.1 NTU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4453128"/>
            <a:ext cx="2011680" cy="502920"/>
          </a:xfrm>
          <a:prstGeom prst="roundRect">
            <a:avLst/>
          </a:prstGeom>
          <a:solidFill>
            <a:srgbClr val="0F2D3E"/>
          </a:solidFill>
          <a:ln>
            <a:solidFill>
              <a:srgbClr val="23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45552" y="4599432"/>
            <a:ext cx="186537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41BE7D"/>
                </a:solidFill>
                <a:latin typeface="Aptos"/>
              </a:rPr>
              <a:t>SAFE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64040" y="2606040"/>
            <a:ext cx="2148840" cy="2423160"/>
          </a:xfrm>
          <a:prstGeom prst="roundRect">
            <a:avLst/>
          </a:prstGeom>
          <a:solidFill>
            <a:srgbClr val="0A3445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38360" y="2926080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2DCBD4"/>
                </a:solidFill>
                <a:latin typeface="Aptos"/>
              </a:rPr>
              <a:t>DEMO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38360" y="3401568"/>
            <a:ext cx="1645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100" b="1" i="0">
                <a:solidFill>
                  <a:srgbClr val="F8FCFD"/>
                </a:solidFill>
                <a:latin typeface="Aptos"/>
              </a:rPr>
              <a:t>3 readings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0928" y="3977639"/>
            <a:ext cx="16916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9DBCC5"/>
                </a:solidFill>
                <a:latin typeface="Aptos"/>
              </a:rPr>
              <a:t>1 unsafe quality reading
1 excessive-use reading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440680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DDF0F2"/>
                </a:solidFill>
                <a:latin typeface="Aptos"/>
              </a:rPr>
              <a:t>The sample data is designed to demonstrate both normal and abnormal conditions.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What the prototype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01568" cy="1691640"/>
          </a:xfrm>
          <a:prstGeom prst="roundRect">
            <a:avLst/>
          </a:prstGeom>
          <a:solidFill>
            <a:srgbClr val="0F2D3E"/>
          </a:solidFill>
          <a:ln>
            <a:solidFill>
              <a:srgbClr val="EC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76272"/>
            <a:ext cx="3017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EC5B5B"/>
                </a:solidFill>
                <a:latin typeface="Aptos"/>
              </a:rPr>
              <a:t>ATTENTION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62072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9DBCC5"/>
                </a:solidFill>
                <a:latin typeface="Aptos"/>
              </a:rPr>
              <a:t>Overall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28800"/>
            <a:ext cx="3401568" cy="1691640"/>
          </a:xfrm>
          <a:prstGeom prst="roundRect">
            <a:avLst/>
          </a:prstGeom>
          <a:solidFill>
            <a:srgbClr val="0F2D3E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176272"/>
            <a:ext cx="3017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2DCBD4"/>
                </a:solidFill>
                <a:latin typeface="Aptos"/>
              </a:rPr>
              <a:t>426.7 L/day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862072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9DBCC5"/>
                </a:solidFill>
                <a:latin typeface="Aptos"/>
              </a:rPr>
              <a:t>Average 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4736" y="1828800"/>
            <a:ext cx="3401568" cy="1691640"/>
          </a:xfrm>
          <a:prstGeom prst="roundRect">
            <a:avLst/>
          </a:prstGeom>
          <a:solidFill>
            <a:srgbClr val="0F2D3E"/>
          </a:solidFill>
          <a:ln>
            <a:solidFill>
              <a:srgbClr val="F4B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5" y="2176272"/>
            <a:ext cx="3017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4B43E"/>
                </a:solidFill>
                <a:latin typeface="Aptos"/>
              </a:rPr>
              <a:t>Increasing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5" y="2862072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9DBCC5"/>
                </a:solidFill>
                <a:latin typeface="Aptos"/>
              </a:rPr>
              <a:t>Consumption trend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10972800" cy="1508760"/>
          </a:xfrm>
          <a:prstGeom prst="roundRect">
            <a:avLst/>
          </a:prstGeom>
          <a:solidFill>
            <a:srgbClr val="0A3242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87952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8FCFD"/>
                </a:solidFill>
                <a:latin typeface="Aptos"/>
              </a:rPr>
              <a:t>Detected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45152"/>
            <a:ext cx="100584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• Low pH (6.2)     • High turbidity (6.8 NTU)     • High consumption (510 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47488"/>
            <a:ext cx="10058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9DBCC5"/>
                </a:solidFill>
                <a:latin typeface="Aptos"/>
              </a:rPr>
              <a:t>Recommended actions include leak checking, reducing usage, further water testing and filtration consideration.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EXPECTED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The monitoring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835640" cy="4160520"/>
          </a:xfrm>
          <a:prstGeom prst="roundRect">
            <a:avLst/>
          </a:prstGeom>
          <a:solidFill>
            <a:srgbClr val="F4F9FA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84831"/>
            <a:ext cx="65836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0F2D3E"/>
                </a:solidFill>
                <a:latin typeface="Aptos"/>
              </a:rPr>
              <a:t>AQUAGUARD MONITORING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2121408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009999"/>
                </a:solidFill>
                <a:latin typeface="Aptos"/>
              </a:rPr>
              <a:t>WR-001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670048"/>
            <a:ext cx="1001268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06F78"/>
                </a:solidFill>
                <a:latin typeface="Aptos"/>
              </a:rPr>
              <a:t>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971800"/>
            <a:ext cx="7223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2D3E"/>
                </a:solidFill>
                <a:latin typeface="Aptos"/>
              </a:rPr>
              <a:t>House 12B (Green Park Colony)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47288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06F78"/>
                </a:solidFill>
                <a:latin typeface="Aptos"/>
              </a:rP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447288"/>
            <a:ext cx="7223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C5B5B"/>
                </a:solidFill>
                <a:latin typeface="Aptos"/>
              </a:rPr>
              <a:t>ATTENTION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922776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06F78"/>
                </a:solidFill>
                <a:latin typeface="Aptos"/>
              </a:rPr>
              <a:t>Total readings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922776"/>
            <a:ext cx="7223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2D3E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98264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06F78"/>
                </a:solidFill>
                <a:latin typeface="Aptos"/>
              </a:rPr>
              <a:t>Average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398264"/>
            <a:ext cx="7223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2D3E"/>
                </a:solidFill>
                <a:latin typeface="Aptos"/>
              </a:rPr>
              <a:t>426.7 litres/day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873752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06F78"/>
                </a:solidFill>
                <a:latin typeface="Aptos"/>
              </a:rPr>
              <a:t>Trend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873752"/>
            <a:ext cx="7223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2D3E"/>
                </a:solidFill>
                <a:latin typeface="Aptos"/>
              </a:rPr>
              <a:t>Increasing (possible wastage)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39496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09999"/>
                </a:solidFill>
                <a:latin typeface="Aptos"/>
              </a:rPr>
              <a:t>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394960"/>
            <a:ext cx="8046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2D3E"/>
                </a:solidFill>
                <a:latin typeface="Aptos"/>
              </a:rPr>
              <a:t>Low pH  •  High turbidity  •  High consumption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What to show the judges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856231"/>
            <a:ext cx="384048" cy="384048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47672"/>
            <a:ext cx="2560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8FCFD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783080"/>
            <a:ext cx="24688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8FCFD"/>
                </a:solidFill>
                <a:latin typeface="Aptos"/>
              </a:rPr>
              <a:t>Run the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83080"/>
            <a:ext cx="74066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Execute main.py and display the generated report.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935224"/>
            <a:ext cx="384048" cy="384048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026664"/>
            <a:ext cx="2560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8FCFD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62072"/>
            <a:ext cx="24688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8FCFD"/>
                </a:solidFill>
                <a:latin typeface="Aptos"/>
              </a:rPr>
              <a:t>Explain the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62072"/>
            <a:ext cx="74066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Briefly explain Location, User, WaterReading and MonitoringReport.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014215"/>
            <a:ext cx="384048" cy="384048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105655"/>
            <a:ext cx="2560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8FCFD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41063"/>
            <a:ext cx="24688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8FCFD"/>
                </a:solidFill>
                <a:latin typeface="Aptos"/>
              </a:rPr>
              <a:t>Point out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941063"/>
            <a:ext cx="74066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Show the low pH, high turbidity and high consumption alerts.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5093208"/>
            <a:ext cx="384048" cy="384048"/>
          </a:xfrm>
          <a:prstGeom prst="ellipse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184648"/>
            <a:ext cx="2560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8FCFD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020056"/>
            <a:ext cx="24688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8FCFD"/>
                </a:solidFill>
                <a:latin typeface="Aptos"/>
              </a:rPr>
              <a:t>Connect to SDGs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020056"/>
            <a:ext cx="74066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DBCC5"/>
                </a:solidFill>
                <a:latin typeface="Aptos"/>
              </a:rPr>
              <a:t>Explain how monitoring quality supports SDG 6 and conservation supports SDG 12.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5897880"/>
            <a:ext cx="8503920" cy="347472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5960" y="5980176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8FCFD"/>
                </a:solidFill>
                <a:latin typeface="Aptos"/>
              </a:rPr>
              <a:t>KEEP THE DEMO SIMPLE • SHOW THE WORKING PROTOTYPE • EXPLAIN THE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Normal + abnormal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0835640" cy="914400"/>
          </a:xfrm>
          <a:prstGeom prst="roundRect">
            <a:avLst/>
          </a:prstGeom>
          <a:solidFill>
            <a:srgbClr val="0F2D3E"/>
          </a:solidFill>
          <a:ln>
            <a:solidFill>
              <a:srgbClr val="41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84832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41BE7D"/>
                </a:solidFill>
                <a:latin typeface="Aptos"/>
              </a:rPr>
              <a:t>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2011680"/>
            <a:ext cx="4206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8FCFD"/>
                </a:solidFill>
                <a:latin typeface="Aptos"/>
              </a:rPr>
              <a:t>320 L • pH 7.1 • 2.3 NTU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011680"/>
            <a:ext cx="3886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9DBCC5"/>
                </a:solidFill>
                <a:latin typeface="Aptos"/>
              </a:rPr>
              <a:t>Safe water quality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63240"/>
            <a:ext cx="10835640" cy="914400"/>
          </a:xfrm>
          <a:prstGeom prst="roundRect">
            <a:avLst/>
          </a:prstGeom>
          <a:solidFill>
            <a:srgbClr val="0F2D3E"/>
          </a:solidFill>
          <a:ln>
            <a:solidFill>
              <a:srgbClr val="EC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C5B5B"/>
                </a:solidFill>
                <a:latin typeface="Aptos"/>
              </a:rPr>
              <a:t>QUALITY ALERT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246120"/>
            <a:ext cx="4206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8FCFD"/>
                </a:solidFill>
                <a:latin typeface="Aptos"/>
              </a:rPr>
              <a:t>450 L • pH 6.2 • 6.8 NTU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246120"/>
            <a:ext cx="3886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9DBCC5"/>
                </a:solidFill>
                <a:latin typeface="Aptos"/>
              </a:rPr>
              <a:t>Unsafe + pH/turbidity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97680"/>
            <a:ext cx="10835640" cy="914400"/>
          </a:xfrm>
          <a:prstGeom prst="roundRect">
            <a:avLst/>
          </a:prstGeom>
          <a:solidFill>
            <a:srgbClr val="0F2D3E"/>
          </a:solidFill>
          <a:ln>
            <a:solidFill>
              <a:srgbClr val="F4B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53712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4B43E"/>
                </a:solidFill>
                <a:latin typeface="Aptos"/>
              </a:rPr>
              <a:t>USAGE ALERT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4480560"/>
            <a:ext cx="4206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8FCFD"/>
                </a:solidFill>
                <a:latin typeface="Aptos"/>
              </a:rPr>
              <a:t>510 L • pH 7.4 • 3.1 NTU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480560"/>
            <a:ext cx="38862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9DBCC5"/>
                </a:solidFill>
                <a:latin typeface="Aptos"/>
              </a:rPr>
              <a:t>High consumption 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715000"/>
            <a:ext cx="106984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DDF0F2"/>
                </a:solidFill>
                <a:latin typeface="Aptos"/>
              </a:rPr>
              <a:t>Testing uses representative sample data as required for the working prototype demonstration.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Current prototype vs.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57800" cy="3611880"/>
          </a:xfrm>
          <a:prstGeom prst="roundRect">
            <a:avLst/>
          </a:prstGeom>
          <a:solidFill>
            <a:srgbClr val="0F2D3E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DCBD4"/>
                </a:solidFill>
                <a:latin typeface="Aptos"/>
              </a:rPr>
              <a:t>CURRENT PROTOTYPE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779776"/>
            <a:ext cx="82296" cy="82296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697480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Python + OOP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200400"/>
            <a:ext cx="82296" cy="82296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118104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Sample data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621024"/>
            <a:ext cx="82296" cy="82296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538728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pH + turbidity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4041648"/>
            <a:ext cx="82296" cy="82296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959352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Consumption + trend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4462272"/>
            <a:ext cx="82296" cy="82296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4379976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Alerts + recommendations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4882896"/>
            <a:ext cx="82296" cy="82296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4800600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Monitoring report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828800"/>
            <a:ext cx="5257800" cy="3611880"/>
          </a:xfrm>
          <a:prstGeom prst="roundRect">
            <a:avLst/>
          </a:prstGeom>
          <a:solidFill>
            <a:srgbClr val="0F2D3E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148840"/>
            <a:ext cx="32918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6FE7BF"/>
                </a:solidFill>
                <a:latin typeface="Aptos"/>
              </a:rPr>
              <a:t>FUTURE IMPROVEMENTS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779776"/>
            <a:ext cx="82296" cy="82296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2697480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Graphical user interface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200400"/>
            <a:ext cx="82296" cy="82296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3118104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Database storage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3621024"/>
            <a:ext cx="82296" cy="82296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3538728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Real-time sensors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4041648"/>
            <a:ext cx="82296" cy="82296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3959352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More water-quality parameters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4462272"/>
            <a:ext cx="82296" cy="82296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4848" y="4379976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Charts and dashboards</a:t>
            </a:r>
          </a:p>
        </p:txBody>
      </p:sp>
      <p:sp>
        <p:nvSpPr>
          <p:cNvPr id="32" name="Oval 31"/>
          <p:cNvSpPr/>
          <p:nvPr/>
        </p:nvSpPr>
        <p:spPr>
          <a:xfrm>
            <a:off x="6583680" y="4882896"/>
            <a:ext cx="82296" cy="82296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84848" y="4800600"/>
            <a:ext cx="40050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DF0F2"/>
                </a:solidFill>
                <a:latin typeface="Aptos"/>
              </a:rPr>
              <a:t>Automatic data collection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715000"/>
            <a:ext cx="10607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9DBCC5"/>
                </a:solidFill>
                <a:latin typeface="Aptos"/>
              </a:rPr>
              <a:t>Future features are intentionally outside the scope of the current prototype.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DCBD4"/>
                </a:solidFill>
                <a:latin typeface="Aptos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8FCFD"/>
                </a:solidFill>
                <a:latin typeface="Aptos"/>
              </a:rPr>
              <a:t>Why AquaGuard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11480"/>
            <a:ext cx="594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9DBCC5"/>
                </a:solidFill>
                <a:latin typeface="Aptos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10972800" cy="18288"/>
          </a:xfrm>
          <a:prstGeom prst="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700" b="1" i="0">
                <a:solidFill>
                  <a:srgbClr val="F8FCFD"/>
                </a:solidFill>
                <a:latin typeface="Aptos"/>
              </a:rPr>
              <a:t>A small monitoring system can make water use and water quality easier to understand.</a:t>
            </a:r>
          </a:p>
        </p:txBody>
      </p:sp>
      <p:sp>
        <p:nvSpPr>
          <p:cNvPr id="7" name="Oval 6"/>
          <p:cNvSpPr/>
          <p:nvPr/>
        </p:nvSpPr>
        <p:spPr>
          <a:xfrm>
            <a:off x="1783080" y="2788920"/>
            <a:ext cx="777240" cy="777240"/>
          </a:xfrm>
          <a:prstGeom prst="ellipse">
            <a:avLst/>
          </a:prstGeom>
          <a:solidFill>
            <a:srgbClr val="2DCBD4"/>
          </a:solidFill>
          <a:ln>
            <a:solidFill>
              <a:srgbClr val="2D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871216"/>
            <a:ext cx="685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F8FCFD"/>
                </a:solidFill>
                <a:latin typeface="Aptos"/>
              </a:rPr>
              <a:t>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67328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8FCFD"/>
                </a:solidFill>
                <a:latin typeface="Aptos"/>
              </a:rPr>
              <a:t>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24528"/>
            <a:ext cx="2560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9DBCC5"/>
                </a:solidFill>
                <a:latin typeface="Aptos"/>
              </a:rPr>
              <a:t>Record water use and quality.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2788920"/>
            <a:ext cx="777240" cy="777240"/>
          </a:xfrm>
          <a:prstGeom prst="ellipse">
            <a:avLst/>
          </a:prstGeom>
          <a:solidFill>
            <a:srgbClr val="F4B43E"/>
          </a:solidFill>
          <a:ln>
            <a:solidFill>
              <a:srgbClr val="F4B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2871216"/>
            <a:ext cx="685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F8FCFD"/>
                </a:solidFill>
                <a:latin typeface="Aptos"/>
              </a:rPr>
              <a:t>⚠️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767328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8FCFD"/>
                </a:solidFill>
                <a:latin typeface="Aptos"/>
              </a:rPr>
              <a:t>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224528"/>
            <a:ext cx="2560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9DBCC5"/>
                </a:solidFill>
                <a:latin typeface="Aptos"/>
              </a:rPr>
              <a:t>Flag abnormal conditions.</a:t>
            </a:r>
          </a:p>
        </p:txBody>
      </p:sp>
      <p:sp>
        <p:nvSpPr>
          <p:cNvPr id="15" name="Oval 14"/>
          <p:cNvSpPr/>
          <p:nvPr/>
        </p:nvSpPr>
        <p:spPr>
          <a:xfrm>
            <a:off x="9189719" y="2788920"/>
            <a:ext cx="777240" cy="777240"/>
          </a:xfrm>
          <a:prstGeom prst="ellipse">
            <a:avLst/>
          </a:prstGeom>
          <a:solidFill>
            <a:srgbClr val="6FE7BF"/>
          </a:solidFill>
          <a:ln>
            <a:solidFill>
              <a:srgbClr val="6FE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871216"/>
            <a:ext cx="685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F8FCFD"/>
                </a:solidFill>
                <a:latin typeface="Aptos"/>
              </a:rPr>
              <a:t>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767328"/>
            <a:ext cx="2560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8FCFD"/>
                </a:solidFill>
                <a:latin typeface="Aptos"/>
              </a:rPr>
              <a:t>CONSERVE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224528"/>
            <a:ext cx="2560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9DBCC5"/>
                </a:solidFill>
                <a:latin typeface="Aptos"/>
              </a:rPr>
              <a:t>Turn alerts into responsible action.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3240" y="5349240"/>
            <a:ext cx="6080760" cy="566928"/>
          </a:xfrm>
          <a:prstGeom prst="roundRect">
            <a:avLst/>
          </a:prstGeom>
          <a:solidFill>
            <a:srgbClr val="009999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5504688"/>
            <a:ext cx="5715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8FCFD"/>
                </a:solidFill>
                <a:latin typeface="Aptos"/>
              </a:rPr>
              <a:t>SDG 6  •  SDG 12  •  PYTHON + 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44768"/>
            <a:ext cx="10515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2DCBD4"/>
                </a:solidFill>
                <a:latin typeface="Aptos"/>
              </a:rP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5943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9DBCC5"/>
                </a:solidFill>
                <a:latin typeface="Aptos"/>
              </a:rPr>
              <a:t>HACK-AI-THON 2026  •  AQUAGUARD  •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