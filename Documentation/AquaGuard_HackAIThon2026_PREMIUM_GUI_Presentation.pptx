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053328"/>
            <a:ext cx="12191695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ardrop 5"/>
          <p:cNvSpPr/>
          <p:nvPr/>
        </p:nvSpPr>
        <p:spPr>
          <a:xfrm rot="10800000">
            <a:off x="9738360" y="914400"/>
            <a:ext cx="1325880" cy="1645920"/>
          </a:xfrm>
          <a:prstGeom prst="teardrop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91440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600" b="1">
                <a:solidFill>
                  <a:srgbClr val="F7FBFD"/>
                </a:solidFill>
                <a:latin typeface="Aptos Display"/>
              </a:defRPr>
            </a:pPr>
            <a:r>
              <a:t>AQUA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600" b="1">
                <a:solidFill>
                  <a:srgbClr val="29CFD6"/>
                </a:solidFill>
                <a:latin typeface="Aptos Display"/>
              </a:defRPr>
            </a:pPr>
            <a:r>
              <a:t>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51760"/>
            <a:ext cx="6858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0">
                <a:solidFill>
                  <a:srgbClr val="F7FBFD"/>
                </a:solidFill>
                <a:latin typeface="Aptos"/>
              </a:defRPr>
            </a:pPr>
            <a:r>
              <a:t>Community Water Quality</a:t>
            </a:r>
            <a:br/>
            <a:r>
              <a:t>&amp; Usage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977639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FF1F6"/>
                </a:solidFill>
                <a:latin typeface="Aptos"/>
              </a:defRPr>
            </a:pPr>
            <a:r>
              <a:t>Python • OOP • Data Analytics • Sustainable Water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617720"/>
            <a:ext cx="2057400" cy="329184"/>
          </a:xfrm>
          <a:prstGeom prst="roundRect">
            <a:avLst/>
          </a:prstGeom>
          <a:solidFill>
            <a:srgbClr val="AEE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86300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HACK-AI-THON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4617720"/>
            <a:ext cx="1645920" cy="329184"/>
          </a:xfrm>
          <a:prstGeom prst="round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468630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NATIONAL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742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F7FBFD"/>
                </a:solidFill>
                <a:latin typeface="Aptos"/>
              </a:defRPr>
            </a:pPr>
            <a:r>
              <a:t>SDG 6  +  SDG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76072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DFF1F6"/>
                </a:solidFill>
                <a:latin typeface="Aptos"/>
              </a:defRPr>
            </a:pPr>
            <a:r>
              <a:t>Sanskriti Patel  •  Pramveer Kumar  •  Agrima Jin  •  Dhanvith J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Water data is only useful when people can act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93B0BE"/>
                </a:solidFill>
                <a:latin typeface="Aptos"/>
              </a:defRPr>
            </a:pPr>
            <a:r>
              <a:t>A reading is just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051422"/>
                </a:solidFill>
                <a:latin typeface="Aptos Display"/>
              </a:defRPr>
            </a:pPr>
            <a:r>
              <a:t>AquaGuard turns it into a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3383280" cy="1554480"/>
          </a:xfrm>
          <a:prstGeom prst="roundRect">
            <a:avLst/>
          </a:prstGeom>
          <a:solidFill>
            <a:srgbClr val="F1F7F9"/>
          </a:solidFill>
          <a:ln>
            <a:solidFill>
              <a:srgbClr val="CF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10699C"/>
                </a:solidFill>
                <a:latin typeface="Aptos"/>
              </a:defRPr>
            </a:pPr>
            <a:r>
              <a:t>WASTAGE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051422"/>
                </a:solidFill>
                <a:latin typeface="Aptos"/>
              </a:defRPr>
            </a:pPr>
            <a:r>
              <a:t>Excessive daily use can point to avoidable loss or leaks.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657600"/>
            <a:ext cx="3383280" cy="1554480"/>
          </a:xfrm>
          <a:prstGeom prst="roundRect">
            <a:avLst/>
          </a:prstGeom>
          <a:solidFill>
            <a:srgbClr val="F1F7F9"/>
          </a:solidFill>
          <a:ln>
            <a:solidFill>
              <a:srgbClr val="CF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15C60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1596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051422"/>
                </a:solidFill>
                <a:latin typeface="Aptos"/>
              </a:defRPr>
            </a:pPr>
            <a:r>
              <a:t>Unusual pH or turbidity deserves attention and further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657600"/>
            <a:ext cx="3383280" cy="1554480"/>
          </a:xfrm>
          <a:prstGeom prst="roundRect">
            <a:avLst/>
          </a:prstGeom>
          <a:solidFill>
            <a:srgbClr val="F1F7F9"/>
          </a:solidFill>
          <a:ln>
            <a:solidFill>
              <a:srgbClr val="CF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9CFD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31596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051422"/>
                </a:solidFill>
                <a:latin typeface="Aptos"/>
              </a:defRPr>
            </a:pPr>
            <a:r>
              <a:t>Trends, locations and alerts make raw observations understandable.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02 /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What the brief asks us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9CFD6"/>
                </a:solidFill>
                <a:latin typeface="Aptos"/>
              </a:defRPr>
            </a:pPr>
            <a:r>
              <a:t>FUNCTIONAL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100" b="1">
                <a:solidFill>
                  <a:srgbClr val="F7FBFD"/>
                </a:solidFill>
                <a:latin typeface="Aptos Display"/>
              </a:defRPr>
            </a:pPr>
            <a:r>
              <a:t>Not just an idea.</a:t>
            </a:r>
            <a:br/>
            <a:r>
              <a:t>A working monitoring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17320"/>
            <a:ext cx="5029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6752" y="148590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139903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7373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Consumption + pH + turbidity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514600"/>
            <a:ext cx="5029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258318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4963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834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Threshold-based abnormal readings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11880"/>
            <a:ext cx="5029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68046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59359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9319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Unsafe or excessive conditions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709159"/>
            <a:ext cx="5029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477774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690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Summarize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502919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Location-wise reports + trends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03 /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One flow. Five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28800" cy="1920240"/>
          </a:xfrm>
          <a:prstGeom prst="roundRect">
            <a:avLst/>
          </a:prstGeom>
          <a:solidFill>
            <a:srgbClr val="F5F9FA"/>
          </a:solidFill>
          <a:ln>
            <a:solidFill>
              <a:srgbClr val="D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1069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33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051422"/>
                </a:solidFill>
                <a:latin typeface="Aptos"/>
              </a:defRPr>
            </a:pPr>
            <a:r>
              <a:t>Readings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2788920"/>
            <a:ext cx="374904" cy="0"/>
          </a:xfrm>
          <a:prstGeom prst="line">
            <a:avLst/>
          </a:prstGeom>
          <a:ln w="25400">
            <a:solidFill>
              <a:srgbClr val="93B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16936" y="1828800"/>
            <a:ext cx="1828800" cy="1920240"/>
          </a:xfrm>
          <a:prstGeom prst="roundRect">
            <a:avLst/>
          </a:prstGeom>
          <a:solidFill>
            <a:srgbClr val="F5F9FA"/>
          </a:solidFill>
          <a:ln>
            <a:solidFill>
              <a:srgbClr val="D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103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8977DA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633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051422"/>
                </a:solidFill>
                <a:latin typeface="Aptos"/>
              </a:defRPr>
            </a:pPr>
            <a:r>
              <a:t>SQLite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64024" y="2788920"/>
            <a:ext cx="374904" cy="0"/>
          </a:xfrm>
          <a:prstGeom prst="line">
            <a:avLst/>
          </a:prstGeom>
          <a:ln w="25400">
            <a:solidFill>
              <a:srgbClr val="93B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1828800"/>
            <a:ext cx="1828800" cy="1920240"/>
          </a:xfrm>
          <a:prstGeom prst="roundRect">
            <a:avLst/>
          </a:prstGeom>
          <a:solidFill>
            <a:srgbClr val="F5F9FA"/>
          </a:solidFill>
          <a:ln>
            <a:solidFill>
              <a:srgbClr val="D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103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29CFD6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633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051422"/>
                </a:solidFill>
                <a:latin typeface="Aptos"/>
              </a:defRPr>
            </a:pPr>
            <a:r>
              <a:t>Rules + trends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22592" y="2788920"/>
            <a:ext cx="374904" cy="0"/>
          </a:xfrm>
          <a:prstGeom prst="line">
            <a:avLst/>
          </a:prstGeom>
          <a:ln w="25400">
            <a:solidFill>
              <a:srgbClr val="93B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34072" y="1828800"/>
            <a:ext cx="1828800" cy="1920240"/>
          </a:xfrm>
          <a:prstGeom prst="roundRect">
            <a:avLst/>
          </a:prstGeom>
          <a:solidFill>
            <a:srgbClr val="F5F9FA"/>
          </a:solidFill>
          <a:ln>
            <a:solidFill>
              <a:srgbClr val="D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6" y="2103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15C6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2633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051422"/>
                </a:solidFill>
                <a:latin typeface="Aptos"/>
              </a:defRPr>
            </a:pPr>
            <a:r>
              <a:t>Alerts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81160" y="2788920"/>
            <a:ext cx="374904" cy="0"/>
          </a:xfrm>
          <a:prstGeom prst="line">
            <a:avLst/>
          </a:prstGeom>
          <a:ln w="25400">
            <a:solidFill>
              <a:srgbClr val="93B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1828800"/>
            <a:ext cx="1828800" cy="1920240"/>
          </a:xfrm>
          <a:prstGeom prst="roundRect">
            <a:avLst/>
          </a:prstGeom>
          <a:solidFill>
            <a:srgbClr val="F5F9FA"/>
          </a:solidFill>
          <a:ln>
            <a:solidFill>
              <a:srgbClr val="D1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03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78E6BE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633472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051422"/>
                </a:solidFill>
                <a:latin typeface="Aptos"/>
              </a:defRPr>
            </a:pPr>
            <a:r>
              <a:t>Report +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10699C"/>
                </a:solidFill>
                <a:latin typeface="Aptos"/>
              </a:defRPr>
            </a:pPr>
            <a:r>
              <a:t>The product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0060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051422"/>
                </a:solidFill>
                <a:latin typeface="Aptos Display"/>
              </a:defRPr>
            </a:pPr>
            <a:r>
              <a:t>ENTER  →  SAVE  →  ANALYZE  →  ALERT  →  UNDERSTAND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59552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93B0BE"/>
                </a:solidFill>
                <a:latin typeface="Aptos"/>
              </a:defRPr>
            </a:pPr>
            <a:r>
              <a:t>The GUI is the visible layer. Python/OOP + SQLite + analytics power what happens underneath.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04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Designed like a real monitoring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475488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77339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4996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901952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See locations, readings, quality and alerts at a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508760"/>
            <a:ext cx="475488" cy="329184"/>
          </a:xfrm>
          <a:prstGeom prst="round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77339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4996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Add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901952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Capture date, consumption, pH, turbidity and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508760"/>
            <a:ext cx="475488" cy="329184"/>
          </a:xfrm>
          <a:prstGeom prst="roundRect">
            <a:avLst/>
          </a:prstGeom>
          <a:solidFill>
            <a:srgbClr val="897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77339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4996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1901952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Visualize consumption and quality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49039"/>
            <a:ext cx="475488" cy="329184"/>
          </a:xfrm>
          <a:prstGeom prst="roundRect">
            <a:avLst/>
          </a:prstGeom>
          <a:solidFill>
            <a:srgbClr val="F1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381762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42231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Turn abnormal values into clear 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749039"/>
            <a:ext cx="475488" cy="329184"/>
          </a:xfrm>
          <a:prstGeom prst="round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1762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Locations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4142231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Manage monitored households, schools and community sites.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749039"/>
            <a:ext cx="475488" cy="329184"/>
          </a:xfrm>
          <a:prstGeom prst="roundRect">
            <a:avLst/>
          </a:prstGeom>
          <a:solidFill>
            <a:srgbClr val="AEE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1762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37398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051422"/>
                </a:solidFill>
                <a:latin typeface="Aptos"/>
              </a:defRPr>
            </a:pPr>
            <a:r>
              <a:t>Monitoring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4142231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Generate a location-wise summary with trends and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05 /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Modular architecture keeps the project clean.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71600"/>
            <a:ext cx="10698480" cy="786384"/>
          </a:xfrm>
          <a:prstGeom prst="roundRect">
            <a:avLst/>
          </a:prstGeom>
          <a:solidFill>
            <a:srgbClr val="102B3D"/>
          </a:solidFill>
          <a:ln>
            <a:solidFill>
              <a:srgbClr val="2A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371600"/>
            <a:ext cx="109728" cy="786384"/>
          </a:xfrm>
          <a:prstGeom prst="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27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9CFD6"/>
                </a:solidFill>
                <a:latin typeface="Aptos"/>
              </a:defRPr>
            </a:pPr>
            <a:r>
              <a:t>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517904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F7FBFD"/>
                </a:solidFill>
                <a:latin typeface="Aptos"/>
              </a:defRPr>
            </a:pPr>
            <a:r>
              <a:t>main_window • dashboard • add_reading • analytics • alerts • locations • report •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487168"/>
            <a:ext cx="10698480" cy="786384"/>
          </a:xfrm>
          <a:prstGeom prst="roundRect">
            <a:avLst/>
          </a:prstGeom>
          <a:solidFill>
            <a:srgbClr val="102B3D"/>
          </a:solidFill>
          <a:ln>
            <a:solidFill>
              <a:srgbClr val="2A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487168"/>
            <a:ext cx="109728" cy="786384"/>
          </a:xfrm>
          <a:prstGeom prst="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42615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0699C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33472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F7FBFD"/>
                </a:solidFill>
                <a:latin typeface="Aptos"/>
              </a:defRPr>
            </a:pPr>
            <a:r>
              <a:t>analytics_engine • validators • thresholds • report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602736"/>
            <a:ext cx="10698480" cy="786384"/>
          </a:xfrm>
          <a:prstGeom prst="roundRect">
            <a:avLst/>
          </a:prstGeom>
          <a:solidFill>
            <a:srgbClr val="102B3D"/>
          </a:solidFill>
          <a:ln>
            <a:solidFill>
              <a:srgbClr val="2A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3602736"/>
            <a:ext cx="109728" cy="786384"/>
          </a:xfrm>
          <a:prstGeom prst="rect">
            <a:avLst/>
          </a:prstGeom>
          <a:solidFill>
            <a:srgbClr val="897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58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8977D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749039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F7FBFD"/>
                </a:solidFill>
                <a:latin typeface="Aptos"/>
              </a:defRPr>
            </a:pPr>
            <a:r>
              <a:t>database_manager • SQLite • demo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718304"/>
            <a:ext cx="10698480" cy="786384"/>
          </a:xfrm>
          <a:prstGeom prst="roundRect">
            <a:avLst/>
          </a:prstGeom>
          <a:solidFill>
            <a:srgbClr val="102B3D"/>
          </a:solidFill>
          <a:ln>
            <a:solidFill>
              <a:srgbClr val="2A4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4718304"/>
            <a:ext cx="109728" cy="786384"/>
          </a:xfrm>
          <a:prstGeom prst="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87375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78E6BE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64608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F7FBFD"/>
                </a:solidFill>
                <a:latin typeface="Aptos"/>
              </a:defRPr>
            </a:pPr>
            <a:r>
              <a:t>Location/User • WaterReading • MonitoringReport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89788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93B0BE"/>
                </a:solidFill>
                <a:latin typeface="Aptos"/>
              </a:defRPr>
            </a:pPr>
            <a:r>
              <a:t>Separation of concerns  •  reusable classes  •  maintainable modules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06 /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The code is structured around real-world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1874519" cy="1874519"/>
          </a:xfrm>
          <a:prstGeom prst="roundRect">
            <a:avLst/>
          </a:prstGeom>
          <a:solidFill>
            <a:srgbClr val="F4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92807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051422"/>
                </a:solidFill>
                <a:latin typeface="Aptos"/>
              </a:defRPr>
            </a:pPr>
            <a:r>
              <a:t>Location /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10699C"/>
                </a:solidFill>
                <a:latin typeface="Aptos"/>
              </a:defRPr>
            </a:pPr>
            <a:r>
              <a:t>Who + 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08760"/>
            <a:ext cx="1874519" cy="1874519"/>
          </a:xfrm>
          <a:prstGeom prst="roundRect">
            <a:avLst/>
          </a:prstGeom>
          <a:solidFill>
            <a:srgbClr val="F4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92807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051422"/>
                </a:solidFill>
                <a:latin typeface="Aptos"/>
              </a:defRPr>
            </a:pPr>
            <a:r>
              <a:t>WaterReading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8775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29CFD6"/>
                </a:solidFill>
                <a:latin typeface="Aptos"/>
              </a:defRPr>
            </a:pPr>
            <a:r>
              <a:t>One observation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2" y="1508760"/>
            <a:ext cx="1874519" cy="1874519"/>
          </a:xfrm>
          <a:prstGeom prst="roundRect">
            <a:avLst/>
          </a:prstGeom>
          <a:solidFill>
            <a:srgbClr val="F4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1892807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051422"/>
                </a:solidFill>
                <a:latin typeface="Aptos"/>
              </a:defRPr>
            </a:pPr>
            <a:r>
              <a:t>MonitoringReport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58775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78E6BE"/>
                </a:solidFill>
                <a:latin typeface="Aptos"/>
              </a:defRPr>
            </a:pPr>
            <a:r>
              <a:t>Meaningful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8664" y="1508760"/>
            <a:ext cx="1874519" cy="1874519"/>
          </a:xfrm>
          <a:prstGeom prst="roundRect">
            <a:avLst/>
          </a:prstGeom>
          <a:solidFill>
            <a:srgbClr val="F4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4" y="1892807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051422"/>
                </a:solidFill>
                <a:latin typeface="Aptos"/>
              </a:defRPr>
            </a:pPr>
            <a:r>
              <a:t>DatabaseManager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258775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8977DA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12096" y="1508760"/>
            <a:ext cx="1874519" cy="1874519"/>
          </a:xfrm>
          <a:prstGeom prst="roundRect">
            <a:avLst/>
          </a:prstGeom>
          <a:solidFill>
            <a:srgbClr val="F4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9256" y="1892807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051422"/>
                </a:solidFill>
                <a:latin typeface="Aptos"/>
              </a:defRPr>
            </a:pPr>
            <a:r>
              <a:t>AnalyticsEngine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9256" y="258775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1">
                <a:solidFill>
                  <a:srgbClr val="F15C60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0699C"/>
                </a:solidFill>
                <a:latin typeface="Aptos"/>
              </a:defRPr>
            </a:pPr>
            <a:r>
              <a:t>OOP PRINCIPLES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26280"/>
            <a:ext cx="2423160" cy="658368"/>
          </a:xfrm>
          <a:prstGeom prst="round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3659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51422"/>
                </a:solidFill>
                <a:latin typeface="Aptos"/>
              </a:defRPr>
            </a:pPr>
            <a:r>
              <a:t>Classes &amp; objects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526280"/>
            <a:ext cx="2423160" cy="658368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473659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51422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26280"/>
            <a:ext cx="2423160" cy="658368"/>
          </a:xfrm>
          <a:prstGeom prst="roundRect">
            <a:avLst/>
          </a:prstGeom>
          <a:solidFill>
            <a:srgbClr val="897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73659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51422"/>
                </a:solidFill>
                <a:latin typeface="Aptos"/>
              </a:defRPr>
            </a:pPr>
            <a:r>
              <a:t>Composition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4526280"/>
            <a:ext cx="2423160" cy="658368"/>
          </a:xfrm>
          <a:prstGeom prst="round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473659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51422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93B0BE"/>
                </a:solidFill>
                <a:latin typeface="Aptos"/>
              </a:defRPr>
            </a:pPr>
            <a:r>
              <a:t>This directly supports the mandatory Python + OOP focus of the challenge.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07 / LIVE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Dashboard — the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7452360" cy="4434840"/>
          </a:xfrm>
          <a:prstGeom prst="roundRect">
            <a:avLst/>
          </a:prstGeom>
          <a:solidFill>
            <a:srgbClr val="01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7452360" cy="4434840"/>
          </a:xfrm>
          <a:prstGeom prst="roundRect">
            <a:avLst/>
          </a:prstGeom>
          <a:solidFill>
            <a:srgbClr val="E0EFF4"/>
          </a:solidFill>
          <a:ln>
            <a:solidFill>
              <a:srgbClr val="96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26464"/>
            <a:ext cx="7306056" cy="42885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" y="1554480"/>
            <a:ext cx="1143000" cy="329184"/>
          </a:xfrm>
          <a:prstGeom prst="round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23060"/>
            <a:ext cx="996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7FBF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9CFD6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F7FBFD"/>
                </a:solidFill>
                <a:latin typeface="Aptos"/>
              </a:defRPr>
            </a:pPr>
            <a:r>
              <a:t>Locations</a:t>
            </a:r>
            <a:br/>
            <a:r>
              <a:t>Readings</a:t>
            </a:r>
            <a:br/>
            <a:r>
              <a:t>Safe sites</a:t>
            </a:r>
            <a:br/>
            <a:r>
              <a:t>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06908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93B0BE"/>
                </a:solidFill>
                <a:latin typeface="Aptos"/>
              </a:defRPr>
            </a:pPr>
            <a:r>
              <a:t>One screen to understand what is happening across the monitored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5257800"/>
            <a:ext cx="14173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5326380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GUI / OVERVIEW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08 / LIVE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Add Reading — capture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6903720" cy="4526280"/>
          </a:xfrm>
          <a:prstGeom prst="roundRect">
            <a:avLst/>
          </a:prstGeom>
          <a:solidFill>
            <a:srgbClr val="01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6903720" cy="4526280"/>
          </a:xfrm>
          <a:prstGeom prst="roundRect">
            <a:avLst/>
          </a:prstGeom>
          <a:solidFill>
            <a:srgbClr val="E0EFF4"/>
          </a:solidFill>
          <a:ln>
            <a:solidFill>
              <a:srgbClr val="96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26464"/>
            <a:ext cx="6757416" cy="4379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" y="1554480"/>
            <a:ext cx="1143000" cy="329184"/>
          </a:xfrm>
          <a:prstGeom prst="round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23060"/>
            <a:ext cx="996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7FBFD"/>
                </a:solidFill>
                <a:latin typeface="Aptos"/>
              </a:defRPr>
            </a:pPr>
            <a:r>
              <a:t>ADD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276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0699C"/>
                </a:solidFill>
                <a:latin typeface="Aptos"/>
              </a:defRPr>
            </a:pPr>
            <a:r>
              <a:t>REQUIRED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103120"/>
            <a:ext cx="1097280" cy="329184"/>
          </a:xfrm>
          <a:prstGeom prst="round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2171700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15798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051422"/>
                </a:solidFill>
                <a:latin typeface="Aptos"/>
              </a:defRPr>
            </a:pPr>
            <a:r>
              <a:t>Litres /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816352"/>
            <a:ext cx="109728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2884932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87121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051422"/>
                </a:solidFill>
                <a:latin typeface="Aptos"/>
              </a:defRPr>
            </a:pPr>
            <a:r>
              <a:t>Water acidity / alkalinity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529584"/>
            <a:ext cx="1097280" cy="329184"/>
          </a:xfrm>
          <a:prstGeom prst="roundRect">
            <a:avLst/>
          </a:prstGeom>
          <a:solidFill>
            <a:srgbClr val="897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3598164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Turbidity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58444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051422"/>
                </a:solidFill>
                <a:latin typeface="Aptos"/>
              </a:defRPr>
            </a:pPr>
            <a:r>
              <a:t>NTU observation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242816"/>
            <a:ext cx="1097280" cy="329184"/>
          </a:xfrm>
          <a:prstGeom prst="round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4311396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297679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051422"/>
                </a:solidFill>
                <a:latin typeface="Aptos"/>
              </a:defRPr>
            </a:pPr>
            <a:r>
              <a:t>Optional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16636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93B0BE"/>
                </a:solidFill>
                <a:latin typeface="Aptos"/>
              </a:defRPr>
            </a:pPr>
            <a:r>
              <a:t>After saving, the same reading becomes available to the analytics, alerts and report layers.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09 / LIVE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Analytics — from readings to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35607"/>
            <a:ext cx="7818120" cy="4617720"/>
          </a:xfrm>
          <a:prstGeom prst="roundRect">
            <a:avLst/>
          </a:prstGeom>
          <a:solidFill>
            <a:srgbClr val="01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7818120" cy="4617720"/>
          </a:xfrm>
          <a:prstGeom prst="roundRect">
            <a:avLst/>
          </a:prstGeom>
          <a:solidFill>
            <a:srgbClr val="E0EFF4"/>
          </a:solidFill>
          <a:ln>
            <a:solidFill>
              <a:srgbClr val="96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399032"/>
            <a:ext cx="7671816" cy="44714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" y="1527048"/>
            <a:ext cx="1143000" cy="329184"/>
          </a:xfrm>
          <a:prstGeom prst="round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95628"/>
            <a:ext cx="996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7FBF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6276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9CFD6"/>
                </a:solidFill>
                <a:latin typeface="Aptos"/>
              </a:defRPr>
            </a:pPr>
            <a:r>
              <a:t>TREND +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05740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7FBFD"/>
                </a:solidFill>
                <a:latin typeface="Aptos"/>
              </a:defRPr>
            </a:pPr>
            <a:r>
              <a:t>See change.</a:t>
            </a:r>
            <a:br/>
            <a:r>
              <a:t>Spot patterns.</a:t>
            </a:r>
            <a:br/>
            <a:r>
              <a:t>Explain the alert.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977639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Matplotlib-based visualizations help the judge understand that the project is doing more than storing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5303520"/>
            <a:ext cx="1554480" cy="329184"/>
          </a:xfrm>
          <a:prstGeom prst="round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53721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DATA → INSIGHT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10 / LIVE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Monitoring Report — the final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63040"/>
            <a:ext cx="7315200" cy="4572000"/>
          </a:xfrm>
          <a:prstGeom prst="roundRect">
            <a:avLst/>
          </a:prstGeom>
          <a:solidFill>
            <a:srgbClr val="01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7315200" cy="4572000"/>
          </a:xfrm>
          <a:prstGeom prst="roundRect">
            <a:avLst/>
          </a:prstGeom>
          <a:solidFill>
            <a:srgbClr val="E0EFF4"/>
          </a:solidFill>
          <a:ln>
            <a:solidFill>
              <a:srgbClr val="96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426464"/>
            <a:ext cx="7168896" cy="44256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" y="1554480"/>
            <a:ext cx="1143000" cy="329184"/>
          </a:xfrm>
          <a:prstGeom prst="round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23060"/>
            <a:ext cx="996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7FBFD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276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0699C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57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51422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1343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93B0BE"/>
                </a:solidFill>
                <a:latin typeface="Aptos"/>
              </a:defRPr>
            </a:pPr>
            <a:r>
              <a:t>daily / average +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88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51422"/>
                </a:solidFill>
                <a:latin typeface="Aptos"/>
              </a:defRPr>
            </a:pPr>
            <a:r>
              <a:t>Quality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04495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93B0BE"/>
                </a:solidFill>
                <a:latin typeface="Aptos"/>
              </a:defRPr>
            </a:pPr>
            <a:r>
              <a:t>safe /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20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51422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7647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93B0BE"/>
                </a:solidFill>
                <a:latin typeface="Aptos"/>
              </a:defRPr>
            </a:pPr>
            <a:r>
              <a:t>what needs 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2519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51422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50799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93B0BE"/>
                </a:solidFill>
                <a:latin typeface="Aptos"/>
              </a:defRPr>
            </a:pPr>
            <a:r>
              <a:t>what the user can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166360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93B0BE"/>
                </a:solidFill>
                <a:latin typeface="Aptos"/>
              </a:defRPr>
            </a:pPr>
            <a:r>
              <a:t>The report connects every required feature into one understandable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11 /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When a value crosses a rule, the system explains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37560" cy="1965960"/>
          </a:xfrm>
          <a:prstGeom prst="roundRect">
            <a:avLst/>
          </a:prstGeom>
          <a:solidFill>
            <a:srgbClr val="F5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051422"/>
                </a:solidFill>
                <a:latin typeface="Aptos"/>
              </a:defRPr>
            </a:pPr>
            <a:r>
              <a:t>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15C60"/>
                </a:solidFill>
                <a:latin typeface="Aptos"/>
              </a:defRPr>
            </a:pPr>
            <a:r>
              <a:t>6.5 — 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Outside range → quality 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508760"/>
            <a:ext cx="3337560" cy="1965960"/>
          </a:xfrm>
          <a:prstGeom prst="roundRect">
            <a:avLst/>
          </a:prstGeom>
          <a:solidFill>
            <a:srgbClr val="F5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783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051422"/>
                </a:solidFill>
                <a:latin typeface="Aptos"/>
              </a:defRPr>
            </a:pPr>
            <a:r>
              <a:t>Turbidity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267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F6B546"/>
                </a:solidFill>
                <a:latin typeface="Aptos"/>
              </a:defRPr>
            </a:pPr>
            <a:r>
              <a:t>≤ 5.0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83464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Above limit → quality 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508760"/>
            <a:ext cx="3337560" cy="1965960"/>
          </a:xfrm>
          <a:prstGeom prst="roundRect">
            <a:avLst/>
          </a:prstGeom>
          <a:solidFill>
            <a:srgbClr val="F5F9FA"/>
          </a:solidFill>
          <a:ln>
            <a:solidFill>
              <a:srgbClr val="D0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783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051422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267712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0699C"/>
                </a:solidFill>
                <a:latin typeface="Aptos"/>
              </a:defRPr>
            </a:pPr>
            <a:r>
              <a:t>≤ 500 L/day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93B0BE"/>
                </a:solidFill>
                <a:latin typeface="Aptos"/>
              </a:defRPr>
            </a:pPr>
            <a:r>
              <a:t>Above limit → usage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0699C"/>
                </a:solidFill>
                <a:latin typeface="Aptos"/>
              </a:defRPr>
            </a:pPr>
            <a:r>
              <a:t>RULE-BASED, TRANSPARENT, CONFIGURABLE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051422"/>
                </a:solidFill>
                <a:latin typeface="Aptos"/>
              </a:defRPr>
            </a:pPr>
            <a:r>
              <a:t>The prototype uses project-defined demonstration thresholds. They are monitoring rules — not a replacement for certified laboratory or regulatory testing.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12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Built around two sustainability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57800" cy="3429000"/>
          </a:xfrm>
          <a:prstGeom prst="roundRect">
            <a:avLst/>
          </a:prstGeom>
          <a:solidFill>
            <a:srgbClr val="102F41"/>
          </a:solidFill>
          <a:ln>
            <a:solidFill>
              <a:srgbClr val="2B4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9CFD6"/>
                </a:solidFill>
                <a:latin typeface="Aptos Display"/>
              </a:defRPr>
            </a:pPr>
            <a:r>
              <a:t>SDG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F7FBFD"/>
                </a:solidFill>
                <a:latin typeface="Aptos"/>
              </a:defRPr>
            </a:pPr>
            <a:r>
              <a:t>Clean Water</a:t>
            </a:r>
            <a:br/>
            <a:r>
              <a:t>&amp; Sanitation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93B0BE"/>
                </a:solidFill>
                <a:latin typeface="Aptos"/>
              </a:defRPr>
            </a:pPr>
            <a:r>
              <a:t>Monitor basic quality observations and flag potentially unsafe sample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257800" cy="3429000"/>
          </a:xfrm>
          <a:prstGeom prst="roundRect">
            <a:avLst/>
          </a:prstGeom>
          <a:solidFill>
            <a:srgbClr val="102F41"/>
          </a:solidFill>
          <a:ln>
            <a:solidFill>
              <a:srgbClr val="2B4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AEE15B"/>
                </a:solidFill>
                <a:latin typeface="Aptos Display"/>
              </a:defRPr>
            </a:pPr>
            <a:r>
              <a:t>SDG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F7FBFD"/>
                </a:solidFill>
                <a:latin typeface="Aptos"/>
              </a:defRPr>
            </a:pPr>
            <a:r>
              <a:t>Responsible</a:t>
            </a:r>
            <a:br/>
            <a:r>
              <a:t>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429000"/>
            <a:ext cx="4251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93B0BE"/>
                </a:solidFill>
                <a:latin typeface="Aptos"/>
              </a:defRPr>
            </a:pPr>
            <a:r>
              <a:t>Track excessive use and encourage practical conservation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32120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7FBFD"/>
                </a:solidFill>
                <a:latin typeface="Aptos"/>
              </a:defRPr>
            </a:pPr>
            <a:r>
              <a:t>MEASURE  →  UNDERSTAND  →  ACT  →  CONSERVE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10699C"/>
                </a:solidFill>
                <a:latin typeface="Aptos"/>
              </a:defRPr>
            </a:pPr>
            <a:r>
              <a:t>13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051422"/>
                </a:solidFill>
                <a:latin typeface="Aptos Display"/>
              </a:defRPr>
            </a:pPr>
            <a:r>
              <a:t>The strongest 90-second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02920" cy="329184"/>
          </a:xfrm>
          <a:prstGeom prst="roundRect">
            <a:avLst/>
          </a:prstGeom>
          <a:solidFill>
            <a:srgbClr val="106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39446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07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Load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733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Start with representative locations and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325880"/>
            <a:ext cx="502920" cy="329184"/>
          </a:xfrm>
          <a:prstGeom prst="roundRect">
            <a:avLst/>
          </a:prstGeom>
          <a:solidFill>
            <a:srgbClr val="29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9446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1307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6733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Show the overall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34639"/>
            <a:ext cx="502920" cy="329184"/>
          </a:xfrm>
          <a:prstGeom prst="roundRect">
            <a:avLst/>
          </a:prstGeom>
          <a:solidFill>
            <a:srgbClr val="897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90322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81635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Enter / inspect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182111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Demonstrate the input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834639"/>
            <a:ext cx="502920" cy="329184"/>
          </a:xfrm>
          <a:prstGeom prst="roundRect">
            <a:avLst/>
          </a:prstGeom>
          <a:solidFill>
            <a:srgbClr val="F15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0322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281635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Trigger an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182111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Show abnormal pH / turbidity / consumption.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43400"/>
            <a:ext cx="502920" cy="329184"/>
          </a:xfrm>
          <a:prstGeom prst="roundRect">
            <a:avLst/>
          </a:prstGeom>
          <a:solidFill>
            <a:srgbClr val="F6B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441198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3251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Open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69087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Explain the trend.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343400"/>
            <a:ext cx="502920" cy="329184"/>
          </a:xfrm>
          <a:prstGeom prst="roundRect">
            <a:avLst/>
          </a:prstGeom>
          <a:solidFill>
            <a:srgbClr val="78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411980"/>
            <a:ext cx="356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05142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43251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51422"/>
                </a:solidFill>
                <a:latin typeface="Aptos"/>
              </a:defRPr>
            </a:pPr>
            <a:r>
              <a:t>Generate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469087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Finish with the required monitoring output.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52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10699C"/>
                </a:solidFill>
                <a:latin typeface="Aptos"/>
              </a:defRPr>
            </a:pPr>
            <a:r>
              <a:t>A short story beats a long feature list.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852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400" b="1">
                <a:solidFill>
                  <a:srgbClr val="051422"/>
                </a:solidFill>
                <a:latin typeface="Aptos"/>
              </a:defRPr>
            </a:pPr>
            <a:r>
              <a:t>ENTER → ANALYZE → ALERT → EXPLAIN →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89A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89A1AD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14 /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We test the system by scenario, not just by button.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37560" cy="2331720"/>
          </a:xfrm>
          <a:prstGeom prst="roundRect">
            <a:avLst/>
          </a:prstGeom>
          <a:solidFill>
            <a:srgbClr val="102D3F"/>
          </a:solidFill>
          <a:ln>
            <a:solidFill>
              <a:srgbClr val="2B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47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78E6BE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5915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320 L • pH 7.1 • 2.3 NTU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Expected: 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554480"/>
            <a:ext cx="3337560" cy="2331720"/>
          </a:xfrm>
          <a:prstGeom prst="roundRect">
            <a:avLst/>
          </a:prstGeom>
          <a:solidFill>
            <a:srgbClr val="102D3F"/>
          </a:solidFill>
          <a:ln>
            <a:solidFill>
              <a:srgbClr val="2B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847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F15C60"/>
                </a:solidFill>
                <a:latin typeface="Aptos"/>
              </a:defRPr>
            </a:pPr>
            <a:r>
              <a:t>QUALITY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450 L • pH 6.2 • 6.8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Expected: quality warning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554480"/>
            <a:ext cx="3337560" cy="2331720"/>
          </a:xfrm>
          <a:prstGeom prst="roundRect">
            <a:avLst/>
          </a:prstGeom>
          <a:solidFill>
            <a:srgbClr val="102D3F"/>
          </a:solidFill>
          <a:ln>
            <a:solidFill>
              <a:srgbClr val="2B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847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F6B546"/>
                </a:solidFill>
                <a:latin typeface="Aptos"/>
              </a:defRPr>
            </a:pPr>
            <a:r>
              <a:t>USAGE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35915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7FBFD"/>
                </a:solidFill>
                <a:latin typeface="Aptos"/>
              </a:defRPr>
            </a:pPr>
            <a:r>
              <a:t>510 L • pH 7.4 • 3.1 NTU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Expected: consumption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9CFD6"/>
                </a:solidFill>
                <a:latin typeface="Aptos"/>
              </a:defRPr>
            </a:pPr>
            <a:r>
              <a:t>Functional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F7FBFD"/>
                </a:solidFill>
                <a:latin typeface="Aptos"/>
              </a:defRPr>
            </a:pPr>
            <a:r>
              <a:t>Valid input • invalid input • SQLite save/load • alerts • trends • multiple locations • report generation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9CFD6"/>
                </a:solidFill>
                <a:latin typeface="Aptos"/>
              </a:defRPr>
            </a:pPr>
            <a:r>
              <a:t>15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F7FBFD"/>
                </a:solidFill>
                <a:latin typeface="Aptos Display"/>
              </a:defRPr>
            </a:pPr>
            <a:r>
              <a:t>Prototype today. Scalable tomorrow.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93B0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234440"/>
          </a:xfrm>
          <a:prstGeom prst="roundRect">
            <a:avLst/>
          </a:prstGeom>
          <a:solidFill>
            <a:srgbClr val="0F2B3C"/>
          </a:solidFill>
          <a:ln>
            <a:solidFill>
              <a:srgbClr val="29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F7FBFD"/>
                </a:solidFill>
                <a:latin typeface="Aptos"/>
              </a:defRPr>
            </a:pPr>
            <a:r>
              <a:t>IoT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Automated readings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074920" cy="1234440"/>
          </a:xfrm>
          <a:prstGeom prst="roundRect">
            <a:avLst/>
          </a:prstGeom>
          <a:solidFill>
            <a:srgbClr val="0F2B3C"/>
          </a:solidFill>
          <a:ln>
            <a:solidFill>
              <a:srgbClr val="29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184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F7FBFD"/>
                </a:solidFill>
                <a:latin typeface="Aptos"/>
              </a:defRPr>
            </a:pPr>
            <a:r>
              <a:t>Cloud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Multi-location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074920" cy="1234440"/>
          </a:xfrm>
          <a:prstGeom prst="roundRect">
            <a:avLst/>
          </a:prstGeom>
          <a:solidFill>
            <a:srgbClr val="0F2B3C"/>
          </a:solidFill>
          <a:ln>
            <a:solidFill>
              <a:srgbClr val="29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F7FBFD"/>
                </a:solidFill>
                <a:latin typeface="Aptos"/>
              </a:defRPr>
            </a:pPr>
            <a:r>
              <a:t>Advanced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7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Smarter historical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5074920" cy="1234440"/>
          </a:xfrm>
          <a:prstGeom prst="roundRect">
            <a:avLst/>
          </a:prstGeom>
          <a:solidFill>
            <a:srgbClr val="0F2B3C"/>
          </a:solidFill>
          <a:ln>
            <a:solidFill>
              <a:srgbClr val="294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18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F7FBFD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7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93B0BE"/>
                </a:solidFill>
                <a:latin typeface="Aptos"/>
              </a:defRPr>
            </a:pPr>
            <a:r>
              <a:t>Email / SMS / app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9CFD6"/>
                </a:solidFill>
                <a:latin typeface="Aptos Display"/>
              </a:defRPr>
            </a:pPr>
            <a:r>
              <a:t>AQUAGUARD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7FBFD"/>
                </a:solidFill>
                <a:latin typeface="Aptos"/>
              </a:defRPr>
            </a:pPr>
            <a:r>
              <a:t>Monitor water. Understand the data. Act before problems grow.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9834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2200" b="1">
                <a:solidFill>
                  <a:srgbClr val="F7FBFD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5321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0">
                <a:solidFill>
                  <a:srgbClr val="93B0BE"/>
                </a:solidFill>
                <a:latin typeface="Aptos"/>
              </a:defRPr>
            </a:pPr>
            <a:r>
              <a:t>Questions • Live Demonstration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44784" cy="0"/>
          </a:xfrm>
          <a:prstGeom prst="line">
            <a:avLst/>
          </a:prstGeom>
          <a:ln w="8890">
            <a:solidFill>
              <a:srgbClr val="5D7B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5D7B8A"/>
                </a:solidFill>
                <a:latin typeface="Aptos"/>
              </a:defRPr>
            </a:pPr>
            <a:r>
              <a:t>AQUAGUARD  •  HACK-AI-THON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