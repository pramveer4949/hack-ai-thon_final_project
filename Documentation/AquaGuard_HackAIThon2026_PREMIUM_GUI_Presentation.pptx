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57800"/>
            <a:ext cx="12191695" cy="1600200"/>
          </a:xfrm>
          <a:prstGeom prst="rect">
            <a:avLst/>
          </a:prstGeom>
          <a:solidFill>
            <a:srgbClr val="106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0"/>
            <a:ext cx="12191695" cy="1188720"/>
          </a:xfrm>
          <a:prstGeom prst="rect">
            <a:avLst/>
          </a:prstGeom>
          <a:solidFill>
            <a:srgbClr val="29C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053328"/>
            <a:ext cx="12191695" cy="822960"/>
          </a:xfrm>
          <a:prstGeom prst="rect">
            <a:avLst/>
          </a:prstGeom>
          <a:solidFill>
            <a:srgbClr val="07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ardrop 5"/>
          <p:cNvSpPr/>
          <p:nvPr/>
        </p:nvSpPr>
        <p:spPr>
          <a:xfrm rot="10800000">
            <a:off x="9738360" y="914400"/>
            <a:ext cx="1325880" cy="1645920"/>
          </a:xfrm>
          <a:prstGeom prst="teardrop">
            <a:avLst/>
          </a:prstGeom>
          <a:solidFill>
            <a:srgbClr val="29C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914400"/>
            <a:ext cx="5120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4600" b="1">
                <a:solidFill>
                  <a:srgbClr val="F7FBFD"/>
                </a:solidFill>
                <a:latin typeface="Aptos Display"/>
              </a:defRPr>
            </a:pPr>
            <a:r>
              <a:t>AQUA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64208"/>
            <a:ext cx="6217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4600" b="1">
                <a:solidFill>
                  <a:srgbClr val="29CFD6"/>
                </a:solidFill>
                <a:latin typeface="Aptos Display"/>
              </a:defRPr>
            </a:pPr>
            <a:r>
              <a:t>GUARD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651760"/>
            <a:ext cx="6858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300" b="0">
                <a:solidFill>
                  <a:srgbClr val="F7FBFD"/>
                </a:solidFill>
                <a:latin typeface="Aptos"/>
              </a:defRPr>
            </a:pPr>
            <a:r>
              <a:t>Community Water Quality</a:t>
            </a:r>
            <a:br/>
            <a:r>
              <a:t>&amp; Usage 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977639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DFF1F6"/>
                </a:solidFill>
                <a:latin typeface="Aptos"/>
              </a:defRPr>
            </a:pPr>
            <a:r>
              <a:t>Python • OOP • Data Analytics • Sustainable Water Use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4617720"/>
            <a:ext cx="2057400" cy="329184"/>
          </a:xfrm>
          <a:prstGeom prst="roundRect">
            <a:avLst/>
          </a:prstGeom>
          <a:solidFill>
            <a:srgbClr val="AEE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686300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HACK-AI-THON 2026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4368" y="4617720"/>
            <a:ext cx="1645920" cy="329184"/>
          </a:xfrm>
          <a:prstGeom prst="roundRect">
            <a:avLst/>
          </a:prstGeom>
          <a:solidFill>
            <a:srgbClr val="F7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468630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NATIONAL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574243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F7FBFD"/>
                </a:solidFill>
                <a:latin typeface="Aptos"/>
              </a:defRPr>
            </a:pPr>
            <a:r>
              <a:t>SDG 6  +  SDG 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576072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900" b="0">
                <a:solidFill>
                  <a:srgbClr val="DFF1F6"/>
                </a:solidFill>
                <a:latin typeface="Aptos"/>
              </a:defRPr>
            </a:pPr>
            <a:r>
              <a:t>Sanskriti Patel  •  Pramveer Kumar  •  Agrima Jin  •  Dhanvith J Patel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166360"/>
            <a:ext cx="105613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5CD2EB"/>
                </a:solidFill>
                <a:latin typeface="Aptos Display"/>
              </a:rPr>
              <a:t>PROJECTED BY</a:t>
            </a:r>
          </a:p>
          <a:p>
            <a:pPr algn="ctr">
              <a:spcBef>
                <a:spcPts val="500"/>
              </a:spcBef>
            </a:pPr>
            <a:r>
              <a:rPr sz="1800" b="1">
                <a:solidFill>
                  <a:srgbClr val="EBF8FA"/>
                </a:solidFill>
                <a:latin typeface="Aptos"/>
              </a:rPr>
              <a:t>Pramveer Kumar  •  Agria Jain  •  Sanskriti Patel  •  Dhanvith J Patil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10699C"/>
                </a:solidFill>
                <a:latin typeface="Aptos"/>
              </a:defRPr>
            </a:pPr>
            <a:r>
              <a:t>01 /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424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051422"/>
                </a:solidFill>
                <a:latin typeface="Aptos Display"/>
              </a:defRPr>
            </a:pPr>
            <a:r>
              <a:t>Water data is only useful when people can act on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1000" b="1">
                <a:solidFill>
                  <a:srgbClr val="93B0B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300" b="1">
                <a:solidFill>
                  <a:srgbClr val="93B0BE"/>
                </a:solidFill>
                <a:latin typeface="Aptos"/>
              </a:defRPr>
            </a:pPr>
            <a:r>
              <a:t>A reading is just a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6858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3400" b="1">
                <a:solidFill>
                  <a:srgbClr val="051422"/>
                </a:solidFill>
                <a:latin typeface="Aptos Display"/>
              </a:defRPr>
            </a:pPr>
            <a:r>
              <a:t>AquaGuard turns it into a decision.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57600"/>
            <a:ext cx="3383280" cy="1554480"/>
          </a:xfrm>
          <a:prstGeom prst="roundRect">
            <a:avLst/>
          </a:prstGeom>
          <a:solidFill>
            <a:srgbClr val="F1F7F9"/>
          </a:solidFill>
          <a:ln>
            <a:solidFill>
              <a:srgbClr val="CF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8620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1">
                <a:solidFill>
                  <a:srgbClr val="10699C"/>
                </a:solidFill>
                <a:latin typeface="Aptos"/>
              </a:defRPr>
            </a:pPr>
            <a:r>
              <a:t>WASTAGE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2926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0">
                <a:solidFill>
                  <a:srgbClr val="051422"/>
                </a:solidFill>
                <a:latin typeface="Aptos"/>
              </a:defRPr>
            </a:pPr>
            <a:r>
              <a:t>Excessive daily use can point to avoidable loss or leaks.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3657600"/>
            <a:ext cx="3383280" cy="1554480"/>
          </a:xfrm>
          <a:prstGeom prst="roundRect">
            <a:avLst/>
          </a:prstGeom>
          <a:solidFill>
            <a:srgbClr val="F1F7F9"/>
          </a:solidFill>
          <a:ln>
            <a:solidFill>
              <a:srgbClr val="CF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88620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1">
                <a:solidFill>
                  <a:srgbClr val="F15C60"/>
                </a:solidFill>
                <a:latin typeface="Aptos"/>
              </a:defRPr>
            </a:pPr>
            <a:r>
              <a:t>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4315968"/>
            <a:ext cx="2926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0">
                <a:solidFill>
                  <a:srgbClr val="051422"/>
                </a:solidFill>
                <a:latin typeface="Aptos"/>
              </a:defRPr>
            </a:pPr>
            <a:r>
              <a:t>Unusual pH or turbidity deserves attention and further testing.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3657600"/>
            <a:ext cx="3383280" cy="1554480"/>
          </a:xfrm>
          <a:prstGeom prst="roundRect">
            <a:avLst/>
          </a:prstGeom>
          <a:solidFill>
            <a:srgbClr val="F1F7F9"/>
          </a:solidFill>
          <a:ln>
            <a:solidFill>
              <a:srgbClr val="CF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88620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1">
                <a:solidFill>
                  <a:srgbClr val="29CFD6"/>
                </a:solidFill>
                <a:latin typeface="Aptos"/>
              </a:defRPr>
            </a:pPr>
            <a:r>
              <a:t>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315968"/>
            <a:ext cx="2926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0">
                <a:solidFill>
                  <a:srgbClr val="051422"/>
                </a:solidFill>
                <a:latin typeface="Aptos"/>
              </a:defRPr>
            </a:pPr>
            <a:r>
              <a:t>Trends, locations and alerts make raw observations understandable.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6437376"/>
            <a:ext cx="10844784" cy="0"/>
          </a:xfrm>
          <a:prstGeom prst="line">
            <a:avLst/>
          </a:prstGeom>
          <a:ln w="8890">
            <a:solidFill>
              <a:srgbClr val="89A1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6510528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750" b="1">
                <a:solidFill>
                  <a:srgbClr val="89A1AD"/>
                </a:solidFill>
                <a:latin typeface="Aptos"/>
              </a:defRPr>
            </a:pPr>
            <a:r>
              <a:t>AQUAGUARD  •  HACK-AI-THON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29CFD6"/>
                </a:solidFill>
                <a:latin typeface="Aptos"/>
              </a:defRPr>
            </a:pPr>
            <a:r>
              <a:t>02 / 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424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F7FBFD"/>
                </a:solidFill>
                <a:latin typeface="Aptos Display"/>
              </a:defRPr>
            </a:pPr>
            <a:r>
              <a:t>What the brief asks us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1000" b="1">
                <a:solidFill>
                  <a:srgbClr val="93B0B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29CFD6"/>
                </a:solidFill>
                <a:latin typeface="Aptos"/>
              </a:defRPr>
            </a:pPr>
            <a:r>
              <a:t>FUNCTIONAL PROTOTYPE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493776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3100" b="1">
                <a:solidFill>
                  <a:srgbClr val="F7FBFD"/>
                </a:solidFill>
                <a:latin typeface="Aptos Display"/>
              </a:defRPr>
            </a:pPr>
            <a:r>
              <a:t>Not just an idea.</a:t>
            </a:r>
            <a:br/>
            <a:r>
              <a:t>A working monitoring system.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417320"/>
            <a:ext cx="502920" cy="329184"/>
          </a:xfrm>
          <a:prstGeom prst="roundRect">
            <a:avLst/>
          </a:prstGeom>
          <a:solidFill>
            <a:srgbClr val="29C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6752" y="1485900"/>
            <a:ext cx="356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56832" y="139903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1">
                <a:solidFill>
                  <a:srgbClr val="F7FBFD"/>
                </a:solidFill>
                <a:latin typeface="Aptos"/>
              </a:defRPr>
            </a:pPr>
            <a:r>
              <a:t>Record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832" y="173736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50" b="0">
                <a:solidFill>
                  <a:srgbClr val="93B0BE"/>
                </a:solidFill>
                <a:latin typeface="Aptos"/>
              </a:defRPr>
            </a:pPr>
            <a:r>
              <a:t>Consumption + pH + turbidity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2514600"/>
            <a:ext cx="502920" cy="329184"/>
          </a:xfrm>
          <a:prstGeom prst="roundRect">
            <a:avLst/>
          </a:prstGeom>
          <a:solidFill>
            <a:srgbClr val="29C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16752" y="2583180"/>
            <a:ext cx="356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249631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1">
                <a:solidFill>
                  <a:srgbClr val="F7FBFD"/>
                </a:solidFill>
                <a:latin typeface="Aptos"/>
              </a:defRPr>
            </a:pPr>
            <a:r>
              <a:t>Detect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283464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50" b="0">
                <a:solidFill>
                  <a:srgbClr val="93B0BE"/>
                </a:solidFill>
                <a:latin typeface="Aptos"/>
              </a:defRPr>
            </a:pPr>
            <a:r>
              <a:t>Threshold-based abnormal readings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611880"/>
            <a:ext cx="502920" cy="329184"/>
          </a:xfrm>
          <a:prstGeom prst="roundRect">
            <a:avLst/>
          </a:prstGeom>
          <a:solidFill>
            <a:srgbClr val="29C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16752" y="3680460"/>
            <a:ext cx="356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832" y="359359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1">
                <a:solidFill>
                  <a:srgbClr val="F7FBFD"/>
                </a:solidFill>
                <a:latin typeface="Aptos"/>
              </a:defRPr>
            </a:pPr>
            <a:r>
              <a:t>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56832" y="393192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50" b="0">
                <a:solidFill>
                  <a:srgbClr val="93B0BE"/>
                </a:solidFill>
                <a:latin typeface="Aptos"/>
              </a:defRPr>
            </a:pPr>
            <a:r>
              <a:t>Unsafe or excessive conditions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4709159"/>
            <a:ext cx="502920" cy="329184"/>
          </a:xfrm>
          <a:prstGeom prst="roundRect">
            <a:avLst/>
          </a:prstGeom>
          <a:solidFill>
            <a:srgbClr val="29C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16752" y="4777740"/>
            <a:ext cx="356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832" y="469087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1">
                <a:solidFill>
                  <a:srgbClr val="F7FBFD"/>
                </a:solidFill>
                <a:latin typeface="Aptos"/>
              </a:defRPr>
            </a:pPr>
            <a:r>
              <a:t>Summarize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502919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50" b="0">
                <a:solidFill>
                  <a:srgbClr val="93B0BE"/>
                </a:solidFill>
                <a:latin typeface="Aptos"/>
              </a:defRPr>
            </a:pPr>
            <a:r>
              <a:t>Location-wise reports + trends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58368" y="6437376"/>
            <a:ext cx="10844784" cy="0"/>
          </a:xfrm>
          <a:prstGeom prst="line">
            <a:avLst/>
          </a:prstGeom>
          <a:ln w="8890">
            <a:solidFill>
              <a:srgbClr val="5D7B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58368" y="6510528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750" b="1">
                <a:solidFill>
                  <a:srgbClr val="5D7B8A"/>
                </a:solidFill>
                <a:latin typeface="Aptos"/>
              </a:defRPr>
            </a:pPr>
            <a:r>
              <a:t>AQUAGUARD  •  HACK-AI-THON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10699C"/>
                </a:solidFill>
                <a:latin typeface="Aptos"/>
              </a:defRPr>
            </a:pPr>
            <a:r>
              <a:t>03 / 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424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051422"/>
                </a:solidFill>
                <a:latin typeface="Aptos Display"/>
              </a:defRPr>
            </a:pPr>
            <a:r>
              <a:t>One flow. Five 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1000" b="1">
                <a:solidFill>
                  <a:srgbClr val="93B0B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1828800" cy="1920240"/>
          </a:xfrm>
          <a:prstGeom prst="roundRect">
            <a:avLst/>
          </a:prstGeom>
          <a:solidFill>
            <a:srgbClr val="F5F9FA"/>
          </a:solidFill>
          <a:ln>
            <a:solidFill>
              <a:srgbClr val="D1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10312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00" b="1">
                <a:solidFill>
                  <a:srgbClr val="1069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63347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700" b="1">
                <a:solidFill>
                  <a:srgbClr val="051422"/>
                </a:solidFill>
                <a:latin typeface="Aptos"/>
              </a:defRPr>
            </a:pPr>
            <a:r>
              <a:t>Readings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05456" y="2788920"/>
            <a:ext cx="374904" cy="0"/>
          </a:xfrm>
          <a:prstGeom prst="line">
            <a:avLst/>
          </a:prstGeom>
          <a:ln w="25400">
            <a:solidFill>
              <a:srgbClr val="93B0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16936" y="1828800"/>
            <a:ext cx="1828800" cy="1920240"/>
          </a:xfrm>
          <a:prstGeom prst="roundRect">
            <a:avLst/>
          </a:prstGeom>
          <a:solidFill>
            <a:srgbClr val="F5F9FA"/>
          </a:solidFill>
          <a:ln>
            <a:solidFill>
              <a:srgbClr val="D1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10312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00" b="1">
                <a:solidFill>
                  <a:srgbClr val="8977DA"/>
                </a:solidFill>
                <a:latin typeface="Aptos"/>
              </a:defRPr>
            </a:pPr>
            <a:r>
              <a:t>STORE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4096" y="263347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700" b="1">
                <a:solidFill>
                  <a:srgbClr val="051422"/>
                </a:solidFill>
                <a:latin typeface="Aptos"/>
              </a:defRPr>
            </a:pPr>
            <a:r>
              <a:t>SQLite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64024" y="2788920"/>
            <a:ext cx="374904" cy="0"/>
          </a:xfrm>
          <a:prstGeom prst="line">
            <a:avLst/>
          </a:prstGeom>
          <a:ln w="25400">
            <a:solidFill>
              <a:srgbClr val="93B0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75504" y="1828800"/>
            <a:ext cx="1828800" cy="1920240"/>
          </a:xfrm>
          <a:prstGeom prst="roundRect">
            <a:avLst/>
          </a:prstGeom>
          <a:solidFill>
            <a:srgbClr val="F5F9FA"/>
          </a:solidFill>
          <a:ln>
            <a:solidFill>
              <a:srgbClr val="D1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1808" y="210312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00" b="1">
                <a:solidFill>
                  <a:srgbClr val="29CFD6"/>
                </a:solidFill>
                <a:latin typeface="Aptos"/>
              </a:defRPr>
            </a:pPr>
            <a:r>
              <a:t>ANALYZE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2664" y="263347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700" b="1">
                <a:solidFill>
                  <a:srgbClr val="051422"/>
                </a:solidFill>
                <a:latin typeface="Aptos"/>
              </a:defRPr>
            </a:pPr>
            <a:r>
              <a:t>Rules + trends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022592" y="2788920"/>
            <a:ext cx="374904" cy="0"/>
          </a:xfrm>
          <a:prstGeom prst="line">
            <a:avLst/>
          </a:prstGeom>
          <a:ln w="25400">
            <a:solidFill>
              <a:srgbClr val="93B0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34072" y="1828800"/>
            <a:ext cx="1828800" cy="1920240"/>
          </a:xfrm>
          <a:prstGeom prst="roundRect">
            <a:avLst/>
          </a:prstGeom>
          <a:solidFill>
            <a:srgbClr val="F5F9FA"/>
          </a:solidFill>
          <a:ln>
            <a:solidFill>
              <a:srgbClr val="D1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0376" y="210312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00" b="1">
                <a:solidFill>
                  <a:srgbClr val="F15C60"/>
                </a:solidFill>
                <a:latin typeface="Aptos"/>
              </a:defRPr>
            </a:pPr>
            <a:r>
              <a:t>EXPLAIN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1232" y="263347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700" b="1">
                <a:solidFill>
                  <a:srgbClr val="051422"/>
                </a:solidFill>
                <a:latin typeface="Aptos"/>
              </a:defRPr>
            </a:pPr>
            <a:r>
              <a:t>Alerts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281160" y="2788920"/>
            <a:ext cx="374904" cy="0"/>
          </a:xfrm>
          <a:prstGeom prst="line">
            <a:avLst/>
          </a:prstGeom>
          <a:ln w="25400">
            <a:solidFill>
              <a:srgbClr val="93B0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692640" y="1828800"/>
            <a:ext cx="1828800" cy="1920240"/>
          </a:xfrm>
          <a:prstGeom prst="roundRect">
            <a:avLst/>
          </a:prstGeom>
          <a:solidFill>
            <a:srgbClr val="F5F9FA"/>
          </a:solidFill>
          <a:ln>
            <a:solidFill>
              <a:srgbClr val="D1E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38944" y="2103120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00" b="1">
                <a:solidFill>
                  <a:srgbClr val="78E6BE"/>
                </a:solidFill>
                <a:latin typeface="Aptos"/>
              </a:defRPr>
            </a:pPr>
            <a:r>
              <a:t>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263347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700" b="1">
                <a:solidFill>
                  <a:srgbClr val="051422"/>
                </a:solidFill>
                <a:latin typeface="Aptos"/>
              </a:defRPr>
            </a:pPr>
            <a:r>
              <a:t>Report + advice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4348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1">
                <a:solidFill>
                  <a:srgbClr val="10699C"/>
                </a:solidFill>
                <a:latin typeface="Aptos"/>
              </a:defRPr>
            </a:pPr>
            <a:r>
              <a:t>The product story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800600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300" b="1">
                <a:solidFill>
                  <a:srgbClr val="051422"/>
                </a:solidFill>
                <a:latin typeface="Aptos Display"/>
              </a:defRPr>
            </a:pPr>
            <a:r>
              <a:t>ENTER  →  SAVE  →  ANALYZE  →  ALERT  →  UNDERSTAND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559552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0">
                <a:solidFill>
                  <a:srgbClr val="93B0BE"/>
                </a:solidFill>
                <a:latin typeface="Aptos"/>
              </a:defRPr>
            </a:pPr>
            <a:r>
              <a:t>The GUI is the visible layer. Python/OOP + SQLite + analytics power what happens underneath.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8368" y="6437376"/>
            <a:ext cx="10844784" cy="0"/>
          </a:xfrm>
          <a:prstGeom prst="line">
            <a:avLst/>
          </a:prstGeom>
          <a:ln w="8890">
            <a:solidFill>
              <a:srgbClr val="89A1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58368" y="6510528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750" b="1">
                <a:solidFill>
                  <a:srgbClr val="89A1AD"/>
                </a:solidFill>
                <a:latin typeface="Aptos"/>
              </a:defRPr>
            </a:pPr>
            <a:r>
              <a:t>AQUAGUARD  •  HACK-AI-THON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10699C"/>
                </a:solidFill>
                <a:latin typeface="Aptos"/>
              </a:defRPr>
            </a:pPr>
            <a:r>
              <a:t>04 /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424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051422"/>
                </a:solidFill>
                <a:latin typeface="Aptos Display"/>
              </a:defRPr>
            </a:pPr>
            <a:r>
              <a:t>Designed like a real monitoring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1000" b="1">
                <a:solidFill>
                  <a:srgbClr val="93B0BE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475488" cy="329184"/>
          </a:xfrm>
          <a:prstGeom prst="roundRect">
            <a:avLst/>
          </a:prstGeom>
          <a:solidFill>
            <a:srgbClr val="29C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1577339"/>
            <a:ext cx="3291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1499616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1">
                <a:solidFill>
                  <a:srgbClr val="051422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1901952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50" b="0">
                <a:solidFill>
                  <a:srgbClr val="93B0BE"/>
                </a:solidFill>
                <a:latin typeface="Aptos"/>
              </a:defRPr>
            </a:pPr>
            <a:r>
              <a:t>See locations, readings, quality and alerts at a glance.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53128" y="1508760"/>
            <a:ext cx="475488" cy="329184"/>
          </a:xfrm>
          <a:prstGeom prst="roundRect">
            <a:avLst/>
          </a:prstGeom>
          <a:solidFill>
            <a:srgbClr val="106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577339"/>
            <a:ext cx="3291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11496" y="1499616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1">
                <a:solidFill>
                  <a:srgbClr val="051422"/>
                </a:solidFill>
                <a:latin typeface="Aptos"/>
              </a:defRPr>
            </a:pPr>
            <a:r>
              <a:t>Add Reading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1496" y="1901952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50" b="0">
                <a:solidFill>
                  <a:srgbClr val="93B0BE"/>
                </a:solidFill>
                <a:latin typeface="Aptos"/>
              </a:defRPr>
            </a:pPr>
            <a:r>
              <a:t>Capture date, consumption, pH, turbidity and notes.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7888" y="1508760"/>
            <a:ext cx="475488" cy="329184"/>
          </a:xfrm>
          <a:prstGeom prst="roundRect">
            <a:avLst/>
          </a:prstGeom>
          <a:solidFill>
            <a:srgbClr val="897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577339"/>
            <a:ext cx="3291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06256" y="1499616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1">
                <a:solidFill>
                  <a:srgbClr val="051422"/>
                </a:solidFill>
                <a:latin typeface="Aptos"/>
              </a:defRPr>
            </a:pPr>
            <a:r>
              <a:t>Analytics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06256" y="1901952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50" b="0">
                <a:solidFill>
                  <a:srgbClr val="93B0BE"/>
                </a:solidFill>
                <a:latin typeface="Aptos"/>
              </a:defRPr>
            </a:pPr>
            <a:r>
              <a:t>Visualize consumption and quality patterns.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749039"/>
            <a:ext cx="475488" cy="329184"/>
          </a:xfrm>
          <a:prstGeom prst="roundRect">
            <a:avLst/>
          </a:prstGeom>
          <a:solidFill>
            <a:srgbClr val="F15C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19" y="3817620"/>
            <a:ext cx="3291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6736" y="3739896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1">
                <a:solidFill>
                  <a:srgbClr val="051422"/>
                </a:solidFill>
                <a:latin typeface="Aptos"/>
              </a:defRPr>
            </a:pPr>
            <a:r>
              <a:t>Alerts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6736" y="4142231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50" b="0">
                <a:solidFill>
                  <a:srgbClr val="93B0BE"/>
                </a:solidFill>
                <a:latin typeface="Aptos"/>
              </a:defRPr>
            </a:pPr>
            <a:r>
              <a:t>Turn abnormal values into clear actions.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3128" y="3749039"/>
            <a:ext cx="475488" cy="329184"/>
          </a:xfrm>
          <a:prstGeom prst="roundRect">
            <a:avLst/>
          </a:prstGeom>
          <a:solidFill>
            <a:srgbClr val="78E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817620"/>
            <a:ext cx="3291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11496" y="3739896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1">
                <a:solidFill>
                  <a:srgbClr val="051422"/>
                </a:solidFill>
                <a:latin typeface="Aptos"/>
              </a:defRPr>
            </a:pPr>
            <a:r>
              <a:t>Locations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11496" y="4142231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50" b="0">
                <a:solidFill>
                  <a:srgbClr val="93B0BE"/>
                </a:solidFill>
                <a:latin typeface="Aptos"/>
              </a:defRPr>
            </a:pPr>
            <a:r>
              <a:t>Manage monitored households, schools and community sites.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47888" y="3749039"/>
            <a:ext cx="475488" cy="329184"/>
          </a:xfrm>
          <a:prstGeom prst="roundRect">
            <a:avLst/>
          </a:prstGeom>
          <a:solidFill>
            <a:srgbClr val="AEE1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817620"/>
            <a:ext cx="3291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06256" y="3739896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1">
                <a:solidFill>
                  <a:srgbClr val="051422"/>
                </a:solidFill>
                <a:latin typeface="Aptos"/>
              </a:defRPr>
            </a:pPr>
            <a:r>
              <a:t>Monitoring Report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06256" y="4142231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50" b="0">
                <a:solidFill>
                  <a:srgbClr val="93B0BE"/>
                </a:solidFill>
                <a:latin typeface="Aptos"/>
              </a:defRPr>
            </a:pPr>
            <a:r>
              <a:t>Generate a location-wise summary with trends and recommendations.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29CFD6"/>
                </a:solidFill>
                <a:latin typeface="Aptos"/>
              </a:defRPr>
            </a:pPr>
            <a:r>
              <a:t>05 /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424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F7FBFD"/>
                </a:solidFill>
                <a:latin typeface="Aptos Display"/>
              </a:defRPr>
            </a:pPr>
            <a:r>
              <a:t>Modular architecture keeps the project clean.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1000" b="1">
                <a:solidFill>
                  <a:srgbClr val="93B0BE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1371600"/>
            <a:ext cx="10698480" cy="786384"/>
          </a:xfrm>
          <a:prstGeom prst="roundRect">
            <a:avLst/>
          </a:prstGeom>
          <a:solidFill>
            <a:srgbClr val="102B3D"/>
          </a:solidFill>
          <a:ln>
            <a:solidFill>
              <a:srgbClr val="2A4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371600"/>
            <a:ext cx="109728" cy="786384"/>
          </a:xfrm>
          <a:prstGeom prst="rect">
            <a:avLst/>
          </a:prstGeom>
          <a:solidFill>
            <a:srgbClr val="29C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527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29CFD6"/>
                </a:solidFill>
                <a:latin typeface="Aptos"/>
              </a:defRPr>
            </a:pPr>
            <a:r>
              <a:t>GUI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517904"/>
            <a:ext cx="8412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50" b="0">
                <a:solidFill>
                  <a:srgbClr val="F7FBFD"/>
                </a:solidFill>
                <a:latin typeface="Aptos"/>
              </a:defRPr>
            </a:pPr>
            <a:r>
              <a:t>main_window • dashboard • add_reading • analytics • alerts • locations • report • thresholds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487168"/>
            <a:ext cx="10698480" cy="786384"/>
          </a:xfrm>
          <a:prstGeom prst="roundRect">
            <a:avLst/>
          </a:prstGeom>
          <a:solidFill>
            <a:srgbClr val="102B3D"/>
          </a:solidFill>
          <a:ln>
            <a:solidFill>
              <a:srgbClr val="2A4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487168"/>
            <a:ext cx="109728" cy="786384"/>
          </a:xfrm>
          <a:prstGeom prst="rect">
            <a:avLst/>
          </a:prstGeom>
          <a:solidFill>
            <a:srgbClr val="106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642615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10699C"/>
                </a:solidFill>
                <a:latin typeface="Aptos"/>
              </a:defRPr>
            </a:pPr>
            <a:r>
              <a:t>LOGIC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2633472"/>
            <a:ext cx="8412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50" b="0">
                <a:solidFill>
                  <a:srgbClr val="F7FBFD"/>
                </a:solidFill>
                <a:latin typeface="Aptos"/>
              </a:defRPr>
            </a:pPr>
            <a:r>
              <a:t>analytics_engine • validators • thresholds • report generation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3602736"/>
            <a:ext cx="10698480" cy="786384"/>
          </a:xfrm>
          <a:prstGeom prst="roundRect">
            <a:avLst/>
          </a:prstGeom>
          <a:solidFill>
            <a:srgbClr val="102B3D"/>
          </a:solidFill>
          <a:ln>
            <a:solidFill>
              <a:srgbClr val="2A4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8" y="3602736"/>
            <a:ext cx="109728" cy="786384"/>
          </a:xfrm>
          <a:prstGeom prst="rect">
            <a:avLst/>
          </a:prstGeom>
          <a:solidFill>
            <a:srgbClr val="897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758184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8977DA"/>
                </a:solidFill>
                <a:latin typeface="Aptos"/>
              </a:defRPr>
            </a:pPr>
            <a:r>
              <a:t>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3749039"/>
            <a:ext cx="8412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50" b="0">
                <a:solidFill>
                  <a:srgbClr val="F7FBFD"/>
                </a:solidFill>
                <a:latin typeface="Aptos"/>
              </a:defRPr>
            </a:pPr>
            <a:r>
              <a:t>database_manager • SQLite • demo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4718304"/>
            <a:ext cx="10698480" cy="786384"/>
          </a:xfrm>
          <a:prstGeom prst="roundRect">
            <a:avLst/>
          </a:prstGeom>
          <a:solidFill>
            <a:srgbClr val="102B3D"/>
          </a:solidFill>
          <a:ln>
            <a:solidFill>
              <a:srgbClr val="2A4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8" y="4718304"/>
            <a:ext cx="109728" cy="786384"/>
          </a:xfrm>
          <a:prstGeom prst="rect">
            <a:avLst/>
          </a:prstGeom>
          <a:solidFill>
            <a:srgbClr val="78E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48737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1">
                <a:solidFill>
                  <a:srgbClr val="78E6BE"/>
                </a:solidFill>
                <a:latin typeface="Aptos"/>
              </a:defRPr>
            </a:pPr>
            <a:r>
              <a:t>MODELS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4864608"/>
            <a:ext cx="8412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50" b="0">
                <a:solidFill>
                  <a:srgbClr val="F7FBFD"/>
                </a:solidFill>
                <a:latin typeface="Aptos"/>
              </a:defRPr>
            </a:pPr>
            <a:r>
              <a:t>Location/User • WaterReading • MonitoringReport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589788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1">
                <a:solidFill>
                  <a:srgbClr val="93B0BE"/>
                </a:solidFill>
                <a:latin typeface="Aptos"/>
              </a:defRPr>
            </a:pPr>
            <a:r>
              <a:t>Separation of concerns  •  reusable classes  •  maintainable modules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6437376"/>
            <a:ext cx="10844784" cy="0"/>
          </a:xfrm>
          <a:prstGeom prst="line">
            <a:avLst/>
          </a:prstGeom>
          <a:ln w="8890">
            <a:solidFill>
              <a:srgbClr val="5D7B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8368" y="6510528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750" b="1">
                <a:solidFill>
                  <a:srgbClr val="5D7B8A"/>
                </a:solidFill>
                <a:latin typeface="Aptos"/>
              </a:defRPr>
            </a:pPr>
            <a:r>
              <a:t>AQUAGUARD  •  HACK-AI-THON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10699C"/>
                </a:solidFill>
                <a:latin typeface="Aptos"/>
              </a:defRPr>
            </a:pPr>
            <a:r>
              <a:t>06 / 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424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051422"/>
                </a:solidFill>
                <a:latin typeface="Aptos Display"/>
              </a:defRPr>
            </a:pPr>
            <a:r>
              <a:t>The code is structured around real-world objects.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1000" b="1">
                <a:solidFill>
                  <a:srgbClr val="93B0BE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1874519" cy="1874519"/>
          </a:xfrm>
          <a:prstGeom prst="roundRect">
            <a:avLst/>
          </a:prstGeom>
          <a:solidFill>
            <a:srgbClr val="F4F9FA"/>
          </a:solidFill>
          <a:ln>
            <a:solidFill>
              <a:srgbClr val="D0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892807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400" b="1">
                <a:solidFill>
                  <a:srgbClr val="051422"/>
                </a:solidFill>
                <a:latin typeface="Aptos"/>
              </a:defRPr>
            </a:pPr>
            <a:r>
              <a:t>Location /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587752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10699C"/>
                </a:solidFill>
                <a:latin typeface="Aptos"/>
              </a:defRPr>
            </a:pPr>
            <a:r>
              <a:t>Who + where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1508760"/>
            <a:ext cx="1874519" cy="1874519"/>
          </a:xfrm>
          <a:prstGeom prst="roundRect">
            <a:avLst/>
          </a:prstGeom>
          <a:solidFill>
            <a:srgbClr val="F4F9FA"/>
          </a:solidFill>
          <a:ln>
            <a:solidFill>
              <a:srgbClr val="D0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892807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400" b="1">
                <a:solidFill>
                  <a:srgbClr val="051422"/>
                </a:solidFill>
                <a:latin typeface="Aptos"/>
              </a:defRPr>
            </a:pPr>
            <a:r>
              <a:t>WaterReading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587752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29CFD6"/>
                </a:solidFill>
                <a:latin typeface="Aptos"/>
              </a:defRPr>
            </a:pPr>
            <a:r>
              <a:t>One observation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85232" y="1508760"/>
            <a:ext cx="1874519" cy="1874519"/>
          </a:xfrm>
          <a:prstGeom prst="roundRect">
            <a:avLst/>
          </a:prstGeom>
          <a:solidFill>
            <a:srgbClr val="F4F9FA"/>
          </a:solidFill>
          <a:ln>
            <a:solidFill>
              <a:srgbClr val="D0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22392" y="1892807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400" b="1">
                <a:solidFill>
                  <a:srgbClr val="051422"/>
                </a:solidFill>
                <a:latin typeface="Aptos"/>
              </a:defRPr>
            </a:pPr>
            <a:r>
              <a:t>MonitoringReport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2392" y="2587752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78E6BE"/>
                </a:solidFill>
                <a:latin typeface="Aptos"/>
              </a:defRPr>
            </a:pPr>
            <a:r>
              <a:t>Meaningful summary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98664" y="1508760"/>
            <a:ext cx="1874519" cy="1874519"/>
          </a:xfrm>
          <a:prstGeom prst="roundRect">
            <a:avLst/>
          </a:prstGeom>
          <a:solidFill>
            <a:srgbClr val="F4F9FA"/>
          </a:solidFill>
          <a:ln>
            <a:solidFill>
              <a:srgbClr val="D0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35824" y="1892807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400" b="1">
                <a:solidFill>
                  <a:srgbClr val="051422"/>
                </a:solidFill>
                <a:latin typeface="Aptos"/>
              </a:defRPr>
            </a:pPr>
            <a:r>
              <a:t>DatabaseManager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35824" y="2587752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8977DA"/>
                </a:solidFill>
                <a:latin typeface="Aptos"/>
              </a:defRPr>
            </a:pPr>
            <a:r>
              <a:t>Persistence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12096" y="1508760"/>
            <a:ext cx="1874519" cy="1874519"/>
          </a:xfrm>
          <a:prstGeom prst="roundRect">
            <a:avLst/>
          </a:prstGeom>
          <a:solidFill>
            <a:srgbClr val="F4F9FA"/>
          </a:solidFill>
          <a:ln>
            <a:solidFill>
              <a:srgbClr val="D0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49256" y="1892807"/>
            <a:ext cx="1600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400" b="1">
                <a:solidFill>
                  <a:srgbClr val="051422"/>
                </a:solidFill>
                <a:latin typeface="Aptos"/>
              </a:defRPr>
            </a:pPr>
            <a:r>
              <a:t>AnalyticsEngine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49256" y="2587752"/>
            <a:ext cx="1600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F15C60"/>
                </a:solidFill>
                <a:latin typeface="Aptos"/>
              </a:defRPr>
            </a:pPr>
            <a:r>
              <a:t>Reasoning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690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10699C"/>
                </a:solidFill>
                <a:latin typeface="Aptos"/>
              </a:defRPr>
            </a:pPr>
            <a:r>
              <a:t>OOP PRINCIPLES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526280"/>
            <a:ext cx="2423160" cy="658368"/>
          </a:xfrm>
          <a:prstGeom prst="roundRect">
            <a:avLst/>
          </a:prstGeom>
          <a:solidFill>
            <a:srgbClr val="106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736592"/>
            <a:ext cx="2423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100" b="1">
                <a:solidFill>
                  <a:srgbClr val="051422"/>
                </a:solidFill>
                <a:latin typeface="Aptos"/>
              </a:defRPr>
            </a:pPr>
            <a:r>
              <a:t>Classes &amp; objects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4526280"/>
            <a:ext cx="2423160" cy="658368"/>
          </a:xfrm>
          <a:prstGeom prst="roundRect">
            <a:avLst/>
          </a:prstGeom>
          <a:solidFill>
            <a:srgbClr val="29C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9000" y="4736592"/>
            <a:ext cx="2423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100" b="1">
                <a:solidFill>
                  <a:srgbClr val="051422"/>
                </a:solidFill>
                <a:latin typeface="Aptos"/>
              </a:defRPr>
            </a:pPr>
            <a:r>
              <a:t>Encapsulation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26280"/>
            <a:ext cx="2423160" cy="658368"/>
          </a:xfrm>
          <a:prstGeom prst="roundRect">
            <a:avLst/>
          </a:prstGeom>
          <a:solidFill>
            <a:srgbClr val="897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736592"/>
            <a:ext cx="2423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100" b="1">
                <a:solidFill>
                  <a:srgbClr val="051422"/>
                </a:solidFill>
                <a:latin typeface="Aptos"/>
              </a:defRPr>
            </a:pPr>
            <a:r>
              <a:t>Composition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15400" y="4526280"/>
            <a:ext cx="2423160" cy="658368"/>
          </a:xfrm>
          <a:prstGeom prst="roundRect">
            <a:avLst/>
          </a:prstGeom>
          <a:solidFill>
            <a:srgbClr val="78E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15400" y="4736592"/>
            <a:ext cx="2423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100" b="1">
                <a:solidFill>
                  <a:srgbClr val="051422"/>
                </a:solidFill>
                <a:latin typeface="Aptos"/>
              </a:defRPr>
            </a:pPr>
            <a:r>
              <a:t>Methods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62356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0">
                <a:solidFill>
                  <a:srgbClr val="93B0BE"/>
                </a:solidFill>
                <a:latin typeface="Aptos"/>
              </a:defRPr>
            </a:pPr>
            <a:r>
              <a:t>This directly supports the mandatory Python + OOP focus of the challenge.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58368" y="6437376"/>
            <a:ext cx="10844784" cy="0"/>
          </a:xfrm>
          <a:prstGeom prst="line">
            <a:avLst/>
          </a:prstGeom>
          <a:ln w="8890">
            <a:solidFill>
              <a:srgbClr val="89A1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8368" y="6510528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750" b="1">
                <a:solidFill>
                  <a:srgbClr val="89A1AD"/>
                </a:solidFill>
                <a:latin typeface="Aptos"/>
              </a:defRPr>
            </a:pPr>
            <a:r>
              <a:t>AQUAGUARD  •  HACK-AI-THON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29CFD6"/>
                </a:solidFill>
                <a:latin typeface="Aptos"/>
              </a:defRPr>
            </a:pPr>
            <a:r>
              <a:t>07 / LIVE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424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F7FBFD"/>
                </a:solidFill>
                <a:latin typeface="Aptos Display"/>
              </a:defRPr>
            </a:pPr>
            <a:r>
              <a:t>Dashboard — the command center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1000" b="1">
                <a:solidFill>
                  <a:srgbClr val="93B0BE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1463040"/>
            <a:ext cx="7452360" cy="4434840"/>
          </a:xfrm>
          <a:prstGeom prst="roundRect">
            <a:avLst/>
          </a:prstGeom>
          <a:solidFill>
            <a:srgbClr val="010E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353312"/>
            <a:ext cx="7452360" cy="4434840"/>
          </a:xfrm>
          <a:prstGeom prst="roundRect">
            <a:avLst/>
          </a:prstGeom>
          <a:solidFill>
            <a:srgbClr val="E0EFF4"/>
          </a:solidFill>
          <a:ln>
            <a:solidFill>
              <a:srgbClr val="96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426464"/>
            <a:ext cx="7306056" cy="428853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9536" y="1554480"/>
            <a:ext cx="1143000" cy="329184"/>
          </a:xfrm>
          <a:prstGeom prst="roundRect">
            <a:avLst/>
          </a:prstGeom>
          <a:solidFill>
            <a:srgbClr val="07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623060"/>
            <a:ext cx="996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F7FBFD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1600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29CFD6"/>
                </a:solidFill>
                <a:latin typeface="Aptos"/>
              </a:defRPr>
            </a:pPr>
            <a:r>
              <a:t>AT A GLANCE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011680"/>
            <a:ext cx="22860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000" b="1">
                <a:solidFill>
                  <a:srgbClr val="F7FBFD"/>
                </a:solidFill>
                <a:latin typeface="Aptos"/>
              </a:defRPr>
            </a:pPr>
            <a:r>
              <a:t>Locations</a:t>
            </a:r>
            <a:br/>
            <a:r>
              <a:t>Readings</a:t>
            </a:r>
            <a:br/>
            <a:r>
              <a:t>Safe sites</a:t>
            </a:r>
            <a:br/>
            <a:r>
              <a:t>Alerts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4069080"/>
            <a:ext cx="2697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0">
                <a:solidFill>
                  <a:srgbClr val="93B0BE"/>
                </a:solidFill>
                <a:latin typeface="Aptos"/>
              </a:defRPr>
            </a:pPr>
            <a:r>
              <a:t>One screen to understand what is happening across the monitored system.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03920" y="5257800"/>
            <a:ext cx="1417320" cy="329184"/>
          </a:xfrm>
          <a:prstGeom prst="roundRect">
            <a:avLst/>
          </a:prstGeom>
          <a:solidFill>
            <a:srgbClr val="29C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77072" y="5326380"/>
            <a:ext cx="12710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GUI / OVERVIEW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6437376"/>
            <a:ext cx="10844784" cy="0"/>
          </a:xfrm>
          <a:prstGeom prst="line">
            <a:avLst/>
          </a:prstGeom>
          <a:ln w="8890">
            <a:solidFill>
              <a:srgbClr val="5D7B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6510528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750" b="1">
                <a:solidFill>
                  <a:srgbClr val="5D7B8A"/>
                </a:solidFill>
                <a:latin typeface="Aptos"/>
              </a:defRPr>
            </a:pPr>
            <a:r>
              <a:t>AQUAGUARD  •  HACK-AI-THON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10699C"/>
                </a:solidFill>
                <a:latin typeface="Aptos"/>
              </a:defRPr>
            </a:pPr>
            <a:r>
              <a:t>08 / LIVE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424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051422"/>
                </a:solidFill>
                <a:latin typeface="Aptos Display"/>
              </a:defRPr>
            </a:pPr>
            <a:r>
              <a:t>Add Reading — capture the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1000" b="1">
                <a:solidFill>
                  <a:srgbClr val="93B0BE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1463040"/>
            <a:ext cx="6903720" cy="4526280"/>
          </a:xfrm>
          <a:prstGeom prst="roundRect">
            <a:avLst/>
          </a:prstGeom>
          <a:solidFill>
            <a:srgbClr val="010E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353312"/>
            <a:ext cx="6903720" cy="4526280"/>
          </a:xfrm>
          <a:prstGeom prst="roundRect">
            <a:avLst/>
          </a:prstGeom>
          <a:solidFill>
            <a:srgbClr val="E0EFF4"/>
          </a:solidFill>
          <a:ln>
            <a:solidFill>
              <a:srgbClr val="96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426464"/>
            <a:ext cx="6757416" cy="437997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9536" y="1554480"/>
            <a:ext cx="1143000" cy="329184"/>
          </a:xfrm>
          <a:prstGeom prst="roundRect">
            <a:avLst/>
          </a:prstGeom>
          <a:solidFill>
            <a:srgbClr val="07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623060"/>
            <a:ext cx="996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F7FBFD"/>
                </a:solidFill>
                <a:latin typeface="Aptos"/>
              </a:defRPr>
            </a:pPr>
            <a:r>
              <a:t>ADD READING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6276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10699C"/>
                </a:solidFill>
                <a:latin typeface="Aptos"/>
              </a:defRPr>
            </a:pPr>
            <a:r>
              <a:t>REQUIRED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2103120"/>
            <a:ext cx="1097280" cy="329184"/>
          </a:xfrm>
          <a:prstGeom prst="roundRect">
            <a:avLst/>
          </a:prstGeom>
          <a:solidFill>
            <a:srgbClr val="106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74152" y="2171700"/>
            <a:ext cx="950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Consumption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2157984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50" b="0">
                <a:solidFill>
                  <a:srgbClr val="051422"/>
                </a:solidFill>
                <a:latin typeface="Aptos"/>
              </a:defRPr>
            </a:pPr>
            <a:r>
              <a:t>Litres / day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2816352"/>
            <a:ext cx="1097280" cy="329184"/>
          </a:xfrm>
          <a:prstGeom prst="roundRect">
            <a:avLst/>
          </a:prstGeom>
          <a:solidFill>
            <a:srgbClr val="29C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74152" y="2884932"/>
            <a:ext cx="950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pH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2871216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50" b="0">
                <a:solidFill>
                  <a:srgbClr val="051422"/>
                </a:solidFill>
                <a:latin typeface="Aptos"/>
              </a:defRPr>
            </a:pPr>
            <a:r>
              <a:t>Water acidity / alkalinity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3529584"/>
            <a:ext cx="1097280" cy="329184"/>
          </a:xfrm>
          <a:prstGeom prst="roundRect">
            <a:avLst/>
          </a:prstGeom>
          <a:solidFill>
            <a:srgbClr val="897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74152" y="3598164"/>
            <a:ext cx="950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Turbidity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60" y="358444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50" b="0">
                <a:solidFill>
                  <a:srgbClr val="051422"/>
                </a:solidFill>
                <a:latin typeface="Aptos"/>
              </a:defRPr>
            </a:pPr>
            <a:r>
              <a:t>NTU observation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4242816"/>
            <a:ext cx="1097280" cy="329184"/>
          </a:xfrm>
          <a:prstGeom prst="roundRect">
            <a:avLst/>
          </a:prstGeom>
          <a:solidFill>
            <a:srgbClr val="78E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74152" y="4311396"/>
            <a:ext cx="9509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Notes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4297679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50" b="0">
                <a:solidFill>
                  <a:srgbClr val="051422"/>
                </a:solidFill>
                <a:latin typeface="Aptos"/>
              </a:defRPr>
            </a:pPr>
            <a:r>
              <a:t>Optional 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5166360"/>
            <a:ext cx="29260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0">
                <a:solidFill>
                  <a:srgbClr val="93B0BE"/>
                </a:solidFill>
                <a:latin typeface="Aptos"/>
              </a:defRPr>
            </a:pPr>
            <a:r>
              <a:t>After saving, the same reading becomes available to the analytics, alerts and report layers.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8368" y="6437376"/>
            <a:ext cx="10844784" cy="0"/>
          </a:xfrm>
          <a:prstGeom prst="line">
            <a:avLst/>
          </a:prstGeom>
          <a:ln w="8890">
            <a:solidFill>
              <a:srgbClr val="89A1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8368" y="6510528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750" b="1">
                <a:solidFill>
                  <a:srgbClr val="89A1AD"/>
                </a:solidFill>
                <a:latin typeface="Aptos"/>
              </a:defRPr>
            </a:pPr>
            <a:r>
              <a:t>AQUAGUARD  •  HACK-AI-THON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29CFD6"/>
                </a:solidFill>
                <a:latin typeface="Aptos"/>
              </a:defRPr>
            </a:pPr>
            <a:r>
              <a:t>09 / LIVE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424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F7FBFD"/>
                </a:solidFill>
                <a:latin typeface="Aptos Display"/>
              </a:defRPr>
            </a:pPr>
            <a:r>
              <a:t>Analytics — from readings to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1000" b="1">
                <a:solidFill>
                  <a:srgbClr val="93B0BE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1435607"/>
            <a:ext cx="7818120" cy="4617720"/>
          </a:xfrm>
          <a:prstGeom prst="roundRect">
            <a:avLst/>
          </a:prstGeom>
          <a:solidFill>
            <a:srgbClr val="010E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325880"/>
            <a:ext cx="7818120" cy="4617720"/>
          </a:xfrm>
          <a:prstGeom prst="roundRect">
            <a:avLst/>
          </a:prstGeom>
          <a:solidFill>
            <a:srgbClr val="E0EFF4"/>
          </a:solidFill>
          <a:ln>
            <a:solidFill>
              <a:srgbClr val="96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399032"/>
            <a:ext cx="7671816" cy="447141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9536" y="1527048"/>
            <a:ext cx="1143000" cy="329184"/>
          </a:xfrm>
          <a:prstGeom prst="roundRect">
            <a:avLst/>
          </a:prstGeom>
          <a:solidFill>
            <a:srgbClr val="07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595628"/>
            <a:ext cx="996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F7FBFD"/>
                </a:solidFill>
                <a:latin typeface="Aptos"/>
              </a:defRPr>
            </a:pPr>
            <a:r>
              <a:t>ANALYTICS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6276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29CFD6"/>
                </a:solidFill>
                <a:latin typeface="Aptos"/>
              </a:defRPr>
            </a:pPr>
            <a:r>
              <a:t>TREND + 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2057400"/>
            <a:ext cx="25146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200" b="1">
                <a:solidFill>
                  <a:srgbClr val="F7FBFD"/>
                </a:solidFill>
                <a:latin typeface="Aptos"/>
              </a:defRPr>
            </a:pPr>
            <a:r>
              <a:t>See change.</a:t>
            </a:r>
            <a:br/>
            <a:r>
              <a:t>Spot patterns.</a:t>
            </a:r>
            <a:br/>
            <a:r>
              <a:t>Explain the alert.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3977639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50" b="0">
                <a:solidFill>
                  <a:srgbClr val="93B0BE"/>
                </a:solidFill>
                <a:latin typeface="Aptos"/>
              </a:defRPr>
            </a:pPr>
            <a:r>
              <a:t>Matplotlib-based visualizations help the judge understand that the project is doing more than storing values.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5303520"/>
            <a:ext cx="1554480" cy="329184"/>
          </a:xfrm>
          <a:prstGeom prst="roundRect">
            <a:avLst/>
          </a:prstGeom>
          <a:solidFill>
            <a:srgbClr val="78E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97112" y="537210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DATA → INSIGHT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6437376"/>
            <a:ext cx="10844784" cy="0"/>
          </a:xfrm>
          <a:prstGeom prst="line">
            <a:avLst/>
          </a:prstGeom>
          <a:ln w="8890">
            <a:solidFill>
              <a:srgbClr val="5D7B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6510528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750" b="1">
                <a:solidFill>
                  <a:srgbClr val="5D7B8A"/>
                </a:solidFill>
                <a:latin typeface="Aptos"/>
              </a:defRPr>
            </a:pPr>
            <a:r>
              <a:t>AQUAGUARD  •  HACK-AI-THON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10699C"/>
                </a:solidFill>
                <a:latin typeface="Aptos"/>
              </a:defRPr>
            </a:pPr>
            <a:r>
              <a:t>10 / LIVE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424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051422"/>
                </a:solidFill>
                <a:latin typeface="Aptos Display"/>
              </a:defRPr>
            </a:pPr>
            <a:r>
              <a:t>Monitoring Report — the final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1000" b="1">
                <a:solidFill>
                  <a:srgbClr val="93B0BE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1463040"/>
            <a:ext cx="7315200" cy="4572000"/>
          </a:xfrm>
          <a:prstGeom prst="roundRect">
            <a:avLst/>
          </a:prstGeom>
          <a:solidFill>
            <a:srgbClr val="010E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353312"/>
            <a:ext cx="7315200" cy="4572000"/>
          </a:xfrm>
          <a:prstGeom prst="roundRect">
            <a:avLst/>
          </a:prstGeom>
          <a:solidFill>
            <a:srgbClr val="E0EFF4"/>
          </a:solidFill>
          <a:ln>
            <a:solidFill>
              <a:srgbClr val="96BE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426464"/>
            <a:ext cx="7168896" cy="442569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9536" y="1554480"/>
            <a:ext cx="1143000" cy="329184"/>
          </a:xfrm>
          <a:prstGeom prst="roundRect">
            <a:avLst/>
          </a:prstGeom>
          <a:solidFill>
            <a:srgbClr val="07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623060"/>
            <a:ext cx="996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F7FBFD"/>
                </a:solidFill>
                <a:latin typeface="Aptos"/>
              </a:defRPr>
            </a:pPr>
            <a:r>
              <a:t>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2763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10699C"/>
                </a:solidFill>
                <a:latin typeface="Aptos"/>
              </a:defRPr>
            </a:pPr>
            <a: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0574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051422"/>
                </a:solidFill>
                <a:latin typeface="Aptos"/>
              </a:defRPr>
            </a:pPr>
            <a:r>
              <a:t>Consumption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313432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50" b="0">
                <a:solidFill>
                  <a:srgbClr val="93B0BE"/>
                </a:solidFill>
                <a:latin typeface="Aptos"/>
              </a:defRPr>
            </a:pPr>
            <a:r>
              <a:t>daily / average + trend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78892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051422"/>
                </a:solidFill>
                <a:latin typeface="Aptos"/>
              </a:defRPr>
            </a:pPr>
            <a:r>
              <a:t>Quality 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3044952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50" b="0">
                <a:solidFill>
                  <a:srgbClr val="93B0BE"/>
                </a:solidFill>
                <a:latin typeface="Aptos"/>
              </a:defRPr>
            </a:pPr>
            <a:r>
              <a:t>safe / attention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52044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051422"/>
                </a:solidFill>
                <a:latin typeface="Aptos"/>
              </a:defRPr>
            </a:pPr>
            <a:r>
              <a:t>Alerts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776472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50" b="0">
                <a:solidFill>
                  <a:srgbClr val="93B0BE"/>
                </a:solidFill>
                <a:latin typeface="Aptos"/>
              </a:defRPr>
            </a:pPr>
            <a:r>
              <a:t>what needs attention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425196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051422"/>
                </a:solidFill>
                <a:latin typeface="Aptos"/>
              </a:defRPr>
            </a:pPr>
            <a:r>
              <a:t>Recommendations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4507992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50" b="0">
                <a:solidFill>
                  <a:srgbClr val="93B0BE"/>
                </a:solidFill>
                <a:latin typeface="Aptos"/>
              </a:defRPr>
            </a:pPr>
            <a:r>
              <a:t>what the user can 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5166360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100" b="0">
                <a:solidFill>
                  <a:srgbClr val="93B0BE"/>
                </a:solidFill>
                <a:latin typeface="Aptos"/>
              </a:defRPr>
            </a:pPr>
            <a:r>
              <a:t>The report connects every required feature into one understandable result.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6437376"/>
            <a:ext cx="10844784" cy="0"/>
          </a:xfrm>
          <a:prstGeom prst="line">
            <a:avLst/>
          </a:prstGeom>
          <a:ln w="8890">
            <a:solidFill>
              <a:srgbClr val="89A1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6510528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750" b="1">
                <a:solidFill>
                  <a:srgbClr val="89A1AD"/>
                </a:solidFill>
                <a:latin typeface="Aptos"/>
              </a:defRPr>
            </a:pPr>
            <a:r>
              <a:t>AQUAGUARD  •  HACK-AI-THON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10699C"/>
                </a:solidFill>
                <a:latin typeface="Aptos"/>
              </a:defRPr>
            </a:pPr>
            <a:r>
              <a:t>11 / DECISION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424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051422"/>
                </a:solidFill>
                <a:latin typeface="Aptos Display"/>
              </a:defRPr>
            </a:pPr>
            <a:r>
              <a:t>When a value crosses a rule, the system explains why.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1000" b="1">
                <a:solidFill>
                  <a:srgbClr val="93B0BE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3337560" cy="1965960"/>
          </a:xfrm>
          <a:prstGeom prst="roundRect">
            <a:avLst/>
          </a:prstGeom>
          <a:solidFill>
            <a:srgbClr val="F5F9FA"/>
          </a:solidFill>
          <a:ln>
            <a:solidFill>
              <a:srgbClr val="D0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8308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1">
                <a:solidFill>
                  <a:srgbClr val="051422"/>
                </a:solidFill>
                <a:latin typeface="Aptos"/>
              </a:defRPr>
            </a:pPr>
            <a:r>
              <a:t>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2677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F15C60"/>
                </a:solidFill>
                <a:latin typeface="Aptos"/>
              </a:defRPr>
            </a:pPr>
            <a:r>
              <a:t>6.5 — 8.5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834640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50" b="0">
                <a:solidFill>
                  <a:srgbClr val="93B0BE"/>
                </a:solidFill>
                <a:latin typeface="Aptos"/>
              </a:defRPr>
            </a:pPr>
            <a:r>
              <a:t>Outside range → quality attention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53128" y="1508760"/>
            <a:ext cx="3337560" cy="1965960"/>
          </a:xfrm>
          <a:prstGeom prst="roundRect">
            <a:avLst/>
          </a:prstGeom>
          <a:solidFill>
            <a:srgbClr val="F5F9FA"/>
          </a:solidFill>
          <a:ln>
            <a:solidFill>
              <a:srgbClr val="D0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178308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1">
                <a:solidFill>
                  <a:srgbClr val="051422"/>
                </a:solidFill>
                <a:latin typeface="Aptos"/>
              </a:defRPr>
            </a:pPr>
            <a:r>
              <a:t>Turbidity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22677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F6B546"/>
                </a:solidFill>
                <a:latin typeface="Aptos"/>
              </a:defRPr>
            </a:pPr>
            <a:r>
              <a:t>≤ 5.0 NTU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2834640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50" b="0">
                <a:solidFill>
                  <a:srgbClr val="93B0BE"/>
                </a:solidFill>
                <a:latin typeface="Aptos"/>
              </a:defRPr>
            </a:pPr>
            <a:r>
              <a:t>Above limit → quality attention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7888" y="1508760"/>
            <a:ext cx="3337560" cy="1965960"/>
          </a:xfrm>
          <a:prstGeom prst="roundRect">
            <a:avLst/>
          </a:prstGeom>
          <a:solidFill>
            <a:srgbClr val="F5F9FA"/>
          </a:solidFill>
          <a:ln>
            <a:solidFill>
              <a:srgbClr val="D0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0768" y="178308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700" b="1">
                <a:solidFill>
                  <a:srgbClr val="051422"/>
                </a:solidFill>
                <a:latin typeface="Aptos"/>
              </a:defRPr>
            </a:pPr>
            <a:r>
              <a:t>Consumption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22677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800" b="1">
                <a:solidFill>
                  <a:srgbClr val="10699C"/>
                </a:solidFill>
                <a:latin typeface="Aptos"/>
              </a:defRPr>
            </a:pPr>
            <a:r>
              <a:t>≤ 500 L/day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834640"/>
            <a:ext cx="28346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50" b="0">
                <a:solidFill>
                  <a:srgbClr val="93B0BE"/>
                </a:solidFill>
                <a:latin typeface="Aptos"/>
              </a:defRPr>
            </a:pPr>
            <a:r>
              <a:t>Above limit → usage alert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160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10699C"/>
                </a:solidFill>
                <a:latin typeface="Aptos"/>
              </a:defRPr>
            </a:pPr>
            <a:r>
              <a:t>RULE-BASED, TRANSPARENT, CONFIGURABLE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572000"/>
            <a:ext cx="10149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0">
                <a:solidFill>
                  <a:srgbClr val="051422"/>
                </a:solidFill>
                <a:latin typeface="Aptos"/>
              </a:defRPr>
            </a:pPr>
            <a:r>
              <a:t>The prototype uses project-defined demonstration thresholds. They are monitoring rules — not a replacement for certified laboratory or regulatory testing.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437376"/>
            <a:ext cx="10844784" cy="0"/>
          </a:xfrm>
          <a:prstGeom prst="line">
            <a:avLst/>
          </a:prstGeom>
          <a:ln w="8890">
            <a:solidFill>
              <a:srgbClr val="89A1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510528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750" b="1">
                <a:solidFill>
                  <a:srgbClr val="89A1AD"/>
                </a:solidFill>
                <a:latin typeface="Aptos"/>
              </a:defRPr>
            </a:pPr>
            <a:r>
              <a:t>AQUAGUARD  •  HACK-AI-THON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29CFD6"/>
                </a:solidFill>
                <a:latin typeface="Aptos"/>
              </a:defRPr>
            </a:pPr>
            <a:r>
              <a:t>12 /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424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F7FBFD"/>
                </a:solidFill>
                <a:latin typeface="Aptos Display"/>
              </a:defRPr>
            </a:pPr>
            <a:r>
              <a:t>Built around two sustainability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1000" b="1">
                <a:solidFill>
                  <a:srgbClr val="93B0BE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5257800" cy="3429000"/>
          </a:xfrm>
          <a:prstGeom prst="roundRect">
            <a:avLst/>
          </a:prstGeom>
          <a:solidFill>
            <a:srgbClr val="102F41"/>
          </a:solidFill>
          <a:ln>
            <a:solidFill>
              <a:srgbClr val="2B4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3000" b="1">
                <a:solidFill>
                  <a:srgbClr val="29CFD6"/>
                </a:solidFill>
                <a:latin typeface="Aptos Display"/>
              </a:defRPr>
            </a:pPr>
            <a:r>
              <a:t>SDG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400" b="1">
                <a:solidFill>
                  <a:srgbClr val="F7FBFD"/>
                </a:solidFill>
                <a:latin typeface="Aptos"/>
              </a:defRPr>
            </a:pPr>
            <a:r>
              <a:t>Clean Water</a:t>
            </a:r>
            <a:br/>
            <a:r>
              <a:t>&amp; Sanitation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429000"/>
            <a:ext cx="4251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0">
                <a:solidFill>
                  <a:srgbClr val="93B0BE"/>
                </a:solidFill>
                <a:latin typeface="Aptos"/>
              </a:defRPr>
            </a:pPr>
            <a:r>
              <a:t>Monitor basic quality observations and flag potentially unsafe sample conditions.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63040"/>
            <a:ext cx="5257800" cy="3429000"/>
          </a:xfrm>
          <a:prstGeom prst="roundRect">
            <a:avLst/>
          </a:prstGeom>
          <a:solidFill>
            <a:srgbClr val="102F41"/>
          </a:solidFill>
          <a:ln>
            <a:solidFill>
              <a:srgbClr val="2B4F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78308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3000" b="1">
                <a:solidFill>
                  <a:srgbClr val="AEE15B"/>
                </a:solidFill>
                <a:latin typeface="Aptos Display"/>
              </a:defRPr>
            </a:pPr>
            <a:r>
              <a:t>SDG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33172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400" b="1">
                <a:solidFill>
                  <a:srgbClr val="F7FBFD"/>
                </a:solidFill>
                <a:latin typeface="Aptos"/>
              </a:defRPr>
            </a:pPr>
            <a:r>
              <a:t>Responsible</a:t>
            </a:r>
            <a:br/>
            <a:r>
              <a:t>Consumption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429000"/>
            <a:ext cx="4251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0">
                <a:solidFill>
                  <a:srgbClr val="93B0BE"/>
                </a:solidFill>
                <a:latin typeface="Aptos"/>
              </a:defRPr>
            </a:pPr>
            <a:r>
              <a:t>Track excessive use and encourage practical conservation actions.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532120"/>
            <a:ext cx="8503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700" b="1">
                <a:solidFill>
                  <a:srgbClr val="F7FBFD"/>
                </a:solidFill>
                <a:latin typeface="Aptos"/>
              </a:defRPr>
            </a:pPr>
            <a:r>
              <a:t>MEASURE  →  UNDERSTAND  →  ACT  →  CONSERVE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6437376"/>
            <a:ext cx="10844784" cy="0"/>
          </a:xfrm>
          <a:prstGeom prst="line">
            <a:avLst/>
          </a:prstGeom>
          <a:ln w="8890">
            <a:solidFill>
              <a:srgbClr val="5D7B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6510528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750" b="1">
                <a:solidFill>
                  <a:srgbClr val="5D7B8A"/>
                </a:solidFill>
                <a:latin typeface="Aptos"/>
              </a:defRPr>
            </a:pPr>
            <a:r>
              <a:t>AQUAGUARD  •  HACK-AI-THON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10699C"/>
                </a:solidFill>
                <a:latin typeface="Aptos"/>
              </a:defRPr>
            </a:pPr>
            <a:r>
              <a:t>13 /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424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051422"/>
                </a:solidFill>
                <a:latin typeface="Aptos Display"/>
              </a:defRPr>
            </a:pPr>
            <a:r>
              <a:t>The strongest 90-second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1000" b="1">
                <a:solidFill>
                  <a:srgbClr val="93B0BE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25880"/>
            <a:ext cx="502920" cy="329184"/>
          </a:xfrm>
          <a:prstGeom prst="roundRect">
            <a:avLst/>
          </a:prstGeom>
          <a:solidFill>
            <a:srgbClr val="106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1394460"/>
            <a:ext cx="356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130759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400" b="1">
                <a:solidFill>
                  <a:srgbClr val="051422"/>
                </a:solidFill>
                <a:latin typeface="Aptos"/>
              </a:defRPr>
            </a:pPr>
            <a:r>
              <a:t>Load demo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167335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0">
                <a:solidFill>
                  <a:srgbClr val="93B0BE"/>
                </a:solidFill>
                <a:latin typeface="Aptos"/>
              </a:defRPr>
            </a:pPr>
            <a:r>
              <a:t>Start with representative locations and readings.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1928" y="1325880"/>
            <a:ext cx="502920" cy="329184"/>
          </a:xfrm>
          <a:prstGeom prst="roundRect">
            <a:avLst/>
          </a:prstGeom>
          <a:solidFill>
            <a:srgbClr val="29C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394460"/>
            <a:ext cx="356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3448" y="130759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400" b="1">
                <a:solidFill>
                  <a:srgbClr val="051422"/>
                </a:solidFill>
                <a:latin typeface="Aptos"/>
              </a:defRPr>
            </a:pPr>
            <a:r>
              <a:t>Open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3448" y="167335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0">
                <a:solidFill>
                  <a:srgbClr val="93B0BE"/>
                </a:solidFill>
                <a:latin typeface="Aptos"/>
              </a:defRPr>
            </a:pPr>
            <a:r>
              <a:t>Show the overall state.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834639"/>
            <a:ext cx="502920" cy="329184"/>
          </a:xfrm>
          <a:prstGeom prst="roundRect">
            <a:avLst/>
          </a:prstGeom>
          <a:solidFill>
            <a:srgbClr val="897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19" y="2903220"/>
            <a:ext cx="356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81635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400" b="1">
                <a:solidFill>
                  <a:srgbClr val="051422"/>
                </a:solidFill>
                <a:latin typeface="Aptos"/>
              </a:defRPr>
            </a:pPr>
            <a:r>
              <a:t>Enter / inspect reading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3182111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0">
                <a:solidFill>
                  <a:srgbClr val="93B0BE"/>
                </a:solidFill>
                <a:latin typeface="Aptos"/>
              </a:defRPr>
            </a:pPr>
            <a:r>
              <a:t>Demonstrate the input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81928" y="2834639"/>
            <a:ext cx="502920" cy="329184"/>
          </a:xfrm>
          <a:prstGeom prst="roundRect">
            <a:avLst/>
          </a:prstGeom>
          <a:solidFill>
            <a:srgbClr val="F15C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2903220"/>
            <a:ext cx="356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3448" y="281635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400" b="1">
                <a:solidFill>
                  <a:srgbClr val="051422"/>
                </a:solidFill>
                <a:latin typeface="Aptos"/>
              </a:defRPr>
            </a:pPr>
            <a:r>
              <a:t>Trigger an alert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182111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0">
                <a:solidFill>
                  <a:srgbClr val="93B0BE"/>
                </a:solidFill>
                <a:latin typeface="Aptos"/>
              </a:defRPr>
            </a:pPr>
            <a:r>
              <a:t>Show abnormal pH / turbidity / consumption.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43400"/>
            <a:ext cx="502920" cy="329184"/>
          </a:xfrm>
          <a:prstGeom prst="roundRect">
            <a:avLst/>
          </a:prstGeom>
          <a:solidFill>
            <a:srgbClr val="F6B5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19" y="4411980"/>
            <a:ext cx="356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888" y="43251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400" b="1">
                <a:solidFill>
                  <a:srgbClr val="051422"/>
                </a:solidFill>
                <a:latin typeface="Aptos"/>
              </a:defRPr>
            </a:pPr>
            <a:r>
              <a:t>Open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469087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0">
                <a:solidFill>
                  <a:srgbClr val="93B0BE"/>
                </a:solidFill>
                <a:latin typeface="Aptos"/>
              </a:defRPr>
            </a:pPr>
            <a:r>
              <a:t>Explain the trend.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81928" y="4343400"/>
            <a:ext cx="502920" cy="329184"/>
          </a:xfrm>
          <a:prstGeom prst="roundRect">
            <a:avLst/>
          </a:prstGeom>
          <a:solidFill>
            <a:srgbClr val="78E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4411980"/>
            <a:ext cx="356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800" b="1">
                <a:solidFill>
                  <a:srgbClr val="051422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13448" y="43251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400" b="1">
                <a:solidFill>
                  <a:srgbClr val="051422"/>
                </a:solidFill>
                <a:latin typeface="Aptos"/>
              </a:defRPr>
            </a:pPr>
            <a:r>
              <a:t>Generate Report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13448" y="469087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0">
                <a:solidFill>
                  <a:srgbClr val="93B0BE"/>
                </a:solidFill>
                <a:latin typeface="Aptos"/>
              </a:defRPr>
            </a:pPr>
            <a:r>
              <a:t>Finish with the required monitoring output.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8521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600" b="1">
                <a:solidFill>
                  <a:srgbClr val="10699C"/>
                </a:solidFill>
                <a:latin typeface="Aptos"/>
              </a:defRPr>
            </a:pPr>
            <a:r>
              <a:t>A short story beats a long feature list.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58521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1400" b="1">
                <a:solidFill>
                  <a:srgbClr val="051422"/>
                </a:solidFill>
                <a:latin typeface="Aptos"/>
              </a:defRPr>
            </a:pPr>
            <a:r>
              <a:t>ENTER → ANALYZE → ALERT → EXPLAIN → REPORT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368" y="6437376"/>
            <a:ext cx="10844784" cy="0"/>
          </a:xfrm>
          <a:prstGeom prst="line">
            <a:avLst/>
          </a:prstGeom>
          <a:ln w="8890">
            <a:solidFill>
              <a:srgbClr val="89A1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368" y="6510528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750" b="1">
                <a:solidFill>
                  <a:srgbClr val="89A1AD"/>
                </a:solidFill>
                <a:latin typeface="Aptos"/>
              </a:defRPr>
            </a:pPr>
            <a:r>
              <a:t>AQUAGUARD  •  HACK-AI-THON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29CFD6"/>
                </a:solidFill>
                <a:latin typeface="Aptos"/>
              </a:defRPr>
            </a:pPr>
            <a:r>
              <a:t>14 /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424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F7FBFD"/>
                </a:solidFill>
                <a:latin typeface="Aptos Display"/>
              </a:defRPr>
            </a:pPr>
            <a:r>
              <a:t>We test the system by scenario, not just by button.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1000" b="1">
                <a:solidFill>
                  <a:srgbClr val="93B0BE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3337560" cy="2331720"/>
          </a:xfrm>
          <a:prstGeom prst="roundRect">
            <a:avLst/>
          </a:prstGeom>
          <a:solidFill>
            <a:srgbClr val="102D3F"/>
          </a:solidFill>
          <a:ln>
            <a:solidFill>
              <a:srgbClr val="2B4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84708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78E6BE"/>
                </a:solidFill>
                <a:latin typeface="Aptos"/>
              </a:defRPr>
            </a:pPr>
            <a:r>
              <a:t>NORMAL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359152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1">
                <a:solidFill>
                  <a:srgbClr val="F7FBFD"/>
                </a:solidFill>
                <a:latin typeface="Aptos"/>
              </a:defRPr>
            </a:pPr>
            <a:r>
              <a:t>320 L • pH 7.1 • 2.3 NTU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18211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0">
                <a:solidFill>
                  <a:srgbClr val="93B0BE"/>
                </a:solidFill>
                <a:latin typeface="Aptos"/>
              </a:defRPr>
            </a:pPr>
            <a:r>
              <a:t>Expected: safe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53128" y="1554480"/>
            <a:ext cx="3337560" cy="2331720"/>
          </a:xfrm>
          <a:prstGeom prst="roundRect">
            <a:avLst/>
          </a:prstGeom>
          <a:solidFill>
            <a:srgbClr val="102D3F"/>
          </a:solidFill>
          <a:ln>
            <a:solidFill>
              <a:srgbClr val="2B4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4296" y="184708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F15C60"/>
                </a:solidFill>
                <a:latin typeface="Aptos"/>
              </a:defRPr>
            </a:pPr>
            <a:r>
              <a:t>QUALITY ALERT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4296" y="2359152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1">
                <a:solidFill>
                  <a:srgbClr val="F7FBFD"/>
                </a:solidFill>
                <a:latin typeface="Aptos"/>
              </a:defRPr>
            </a:pPr>
            <a:r>
              <a:t>450 L • pH 6.2 • 6.8 NTU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318211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0">
                <a:solidFill>
                  <a:srgbClr val="93B0BE"/>
                </a:solidFill>
                <a:latin typeface="Aptos"/>
              </a:defRPr>
            </a:pPr>
            <a:r>
              <a:t>Expected: quality warning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7888" y="1554480"/>
            <a:ext cx="3337560" cy="2331720"/>
          </a:xfrm>
          <a:prstGeom prst="roundRect">
            <a:avLst/>
          </a:prstGeom>
          <a:solidFill>
            <a:srgbClr val="102D3F"/>
          </a:solidFill>
          <a:ln>
            <a:solidFill>
              <a:srgbClr val="2B4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49056" y="184708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200" b="1">
                <a:solidFill>
                  <a:srgbClr val="F6B546"/>
                </a:solidFill>
                <a:latin typeface="Aptos"/>
              </a:defRPr>
            </a:pPr>
            <a:r>
              <a:t>USAGE ALERT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9056" y="2359152"/>
            <a:ext cx="28346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500" b="1">
                <a:solidFill>
                  <a:srgbClr val="F7FBFD"/>
                </a:solidFill>
                <a:latin typeface="Aptos"/>
              </a:defRPr>
            </a:pPr>
            <a:r>
              <a:t>510 L • pH 7.4 • 3.1 NTU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6" y="318211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0">
                <a:solidFill>
                  <a:srgbClr val="93B0BE"/>
                </a:solidFill>
                <a:latin typeface="Aptos"/>
              </a:defRPr>
            </a:pPr>
            <a:r>
              <a:t>Expected: consumption alert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480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1">
                <a:solidFill>
                  <a:srgbClr val="29CFD6"/>
                </a:solidFill>
                <a:latin typeface="Aptos"/>
              </a:defRPr>
            </a:pPr>
            <a:r>
              <a:t>Functional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892040"/>
            <a:ext cx="103327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300" b="0">
                <a:solidFill>
                  <a:srgbClr val="F7FBFD"/>
                </a:solidFill>
                <a:latin typeface="Aptos"/>
              </a:defRPr>
            </a:pPr>
            <a:r>
              <a:t>Valid input • invalid input • SQLite save/load • alerts • trends • multiple locations • report generation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437376"/>
            <a:ext cx="10844784" cy="0"/>
          </a:xfrm>
          <a:prstGeom prst="line">
            <a:avLst/>
          </a:prstGeom>
          <a:ln w="8890">
            <a:solidFill>
              <a:srgbClr val="5D7B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510528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750" b="1">
                <a:solidFill>
                  <a:srgbClr val="5D7B8A"/>
                </a:solidFill>
                <a:latin typeface="Aptos"/>
              </a:defRPr>
            </a:pPr>
            <a:r>
              <a:t>AQUAGUARD  •  HACK-AI-THON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900" b="1">
                <a:solidFill>
                  <a:srgbClr val="29CFD6"/>
                </a:solidFill>
                <a:latin typeface="Aptos"/>
              </a:defRPr>
            </a:pPr>
            <a:r>
              <a:t>15 /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424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2700" b="1">
                <a:solidFill>
                  <a:srgbClr val="F7FBFD"/>
                </a:solidFill>
                <a:latin typeface="Aptos Display"/>
              </a:defRPr>
            </a:pPr>
            <a:r>
              <a:t>Prototype today. Scalable tomorrow.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384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1000" b="1">
                <a:solidFill>
                  <a:srgbClr val="93B0BE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5074920" cy="1234440"/>
          </a:xfrm>
          <a:prstGeom prst="roundRect">
            <a:avLst/>
          </a:prstGeom>
          <a:solidFill>
            <a:srgbClr val="0F2B3C"/>
          </a:solidFill>
          <a:ln>
            <a:solidFill>
              <a:srgbClr val="294C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1848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400" b="1">
                <a:solidFill>
                  <a:srgbClr val="F7FBFD"/>
                </a:solidFill>
                <a:latin typeface="Aptos"/>
              </a:defRPr>
            </a:pPr>
            <a:r>
              <a:t>IoT sensors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0">
                <a:solidFill>
                  <a:srgbClr val="93B0BE"/>
                </a:solidFill>
                <a:latin typeface="Aptos"/>
              </a:defRPr>
            </a:pPr>
            <a:r>
              <a:t>Automated readings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17320"/>
            <a:ext cx="5074920" cy="1234440"/>
          </a:xfrm>
          <a:prstGeom prst="roundRect">
            <a:avLst/>
          </a:prstGeom>
          <a:solidFill>
            <a:srgbClr val="0F2B3C"/>
          </a:solidFill>
          <a:ln>
            <a:solidFill>
              <a:srgbClr val="294C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1848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400" b="1">
                <a:solidFill>
                  <a:srgbClr val="F7FBFD"/>
                </a:solidFill>
                <a:latin typeface="Aptos"/>
              </a:defRPr>
            </a:pPr>
            <a:r>
              <a:t>Cloud sync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01168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0">
                <a:solidFill>
                  <a:srgbClr val="93B0BE"/>
                </a:solidFill>
                <a:latin typeface="Aptos"/>
              </a:defRPr>
            </a:pPr>
            <a:r>
              <a:t>Multi-location access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017520"/>
            <a:ext cx="5074920" cy="1234440"/>
          </a:xfrm>
          <a:prstGeom prst="roundRect">
            <a:avLst/>
          </a:prstGeom>
          <a:solidFill>
            <a:srgbClr val="0F2B3C"/>
          </a:solidFill>
          <a:ln>
            <a:solidFill>
              <a:srgbClr val="294C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21868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400" b="1">
                <a:solidFill>
                  <a:srgbClr val="F7FBFD"/>
                </a:solidFill>
                <a:latin typeface="Aptos"/>
              </a:defRPr>
            </a:pPr>
            <a:r>
              <a:t>Advanced anomaly 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611879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0">
                <a:solidFill>
                  <a:srgbClr val="93B0BE"/>
                </a:solidFill>
                <a:latin typeface="Aptos"/>
              </a:defRPr>
            </a:pPr>
            <a:r>
              <a:t>Smarter historical analysis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017520"/>
            <a:ext cx="5074920" cy="1234440"/>
          </a:xfrm>
          <a:prstGeom prst="roundRect">
            <a:avLst/>
          </a:prstGeom>
          <a:solidFill>
            <a:srgbClr val="0F2B3C"/>
          </a:solidFill>
          <a:ln>
            <a:solidFill>
              <a:srgbClr val="294C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21868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400" b="1">
                <a:solidFill>
                  <a:srgbClr val="F7FBFD"/>
                </a:solidFill>
                <a:latin typeface="Aptos"/>
              </a:defRPr>
            </a:pPr>
            <a:r>
              <a:t>Notifications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611879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000" b="0">
                <a:solidFill>
                  <a:srgbClr val="93B0BE"/>
                </a:solidFill>
                <a:latin typeface="Aptos"/>
              </a:defRPr>
            </a:pPr>
            <a:r>
              <a:t>Email / SMS / app 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98348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3000" b="1">
                <a:solidFill>
                  <a:srgbClr val="29CFD6"/>
                </a:solidFill>
                <a:latin typeface="Aptos Display"/>
              </a:defRPr>
            </a:pPr>
            <a:r>
              <a:t>AQUAGUARD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532120"/>
            <a:ext cx="7132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1600" b="1">
                <a:solidFill>
                  <a:srgbClr val="F7FBFD"/>
                </a:solidFill>
                <a:latin typeface="Aptos"/>
              </a:defRPr>
            </a:pPr>
            <a:r>
              <a:t>Monitor water. Understand the data. Act before problems grow.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49834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2200" b="1">
                <a:solidFill>
                  <a:srgbClr val="F7FBFD"/>
                </a:solidFill>
                <a:latin typeface="Aptos"/>
              </a:defRPr>
            </a:pPr>
            <a:r>
              <a:t>THANK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5532120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defRPr sz="1000" b="0">
                <a:solidFill>
                  <a:srgbClr val="93B0BE"/>
                </a:solidFill>
                <a:latin typeface="Aptos"/>
              </a:defRPr>
            </a:pPr>
            <a:r>
              <a:t>Questions • Live Demonstration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437376"/>
            <a:ext cx="10844784" cy="0"/>
          </a:xfrm>
          <a:prstGeom prst="line">
            <a:avLst/>
          </a:prstGeom>
          <a:ln w="8890">
            <a:solidFill>
              <a:srgbClr val="5D7B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510528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defRPr sz="750" b="1">
                <a:solidFill>
                  <a:srgbClr val="5D7B8A"/>
                </a:solidFill>
                <a:latin typeface="Aptos"/>
              </a:defRPr>
            </a:pPr>
            <a:r>
              <a:t>AQUAGUARD  •  HACK-AI-THON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