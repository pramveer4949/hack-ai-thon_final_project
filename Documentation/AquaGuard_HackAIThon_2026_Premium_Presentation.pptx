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50292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00D3FF"/>
                </a:solidFill>
                <a:latin typeface="Aptos"/>
              </a:rPr>
              <a:t>AquaGuard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98448"/>
            <a:ext cx="65836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9DB5C6"/>
                </a:solidFill>
                <a:latin typeface="Aptos"/>
              </a:rPr>
              <a:t>COMMUNITY WATER QUALITY &amp; USAGE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6400800" cy="1920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8FC"/>
                </a:solidFill>
                <a:latin typeface="Aptos"/>
              </a:rPr>
              <a:t>Measure water.
Understand the signal.
Act before it becomes a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6217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1EBCD"/>
                </a:solidFill>
                <a:latin typeface="Aptos"/>
              </a:rPr>
              <a:t>Python  •  OOP  •  SDG 6  •  SDG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773168"/>
            <a:ext cx="5715000" cy="777240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4983480"/>
            <a:ext cx="2057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D3FF"/>
                </a:solidFill>
                <a:latin typeface="Aptos"/>
              </a:rPr>
              <a:t>HACK-AI-THON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983480"/>
            <a:ext cx="25603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National Level Team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822960"/>
            <a:ext cx="3977639" cy="5257800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188720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9DB5C6"/>
                </a:solidFill>
                <a:latin typeface="Aptos"/>
              </a:rPr>
              <a:t>WATER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554480"/>
            <a:ext cx="3017520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F1F8FC"/>
                </a:solidFill>
                <a:latin typeface="Aptos"/>
              </a:rPr>
              <a:t>ONE VIEW.
CLEAR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697480"/>
            <a:ext cx="3246120" cy="91440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807208"/>
            <a:ext cx="29718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DAILY 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017520"/>
            <a:ext cx="29718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1F8FC"/>
                </a:solidFill>
                <a:latin typeface="Aptos"/>
              </a:rPr>
              <a:t>406.2 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383280"/>
            <a:ext cx="297180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19" b="1">
                <a:solidFill>
                  <a:srgbClr val="00D3FF"/>
                </a:solidFill>
                <a:latin typeface="Aptos"/>
              </a:rPr>
              <a:t>trend • increasing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749039"/>
            <a:ext cx="3246120" cy="91440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3858768"/>
            <a:ext cx="29718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WATER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069079"/>
            <a:ext cx="29718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1F8FC"/>
                </a:solidFill>
                <a:latin typeface="Aptos"/>
              </a:rPr>
              <a:t>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434840"/>
            <a:ext cx="297180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19" b="1">
                <a:solidFill>
                  <a:srgbClr val="FFBE47"/>
                </a:solidFill>
                <a:latin typeface="Aptos"/>
              </a:rPr>
              <a:t>alerts detected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4800600"/>
            <a:ext cx="3246120" cy="91440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910328"/>
            <a:ext cx="29718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120640"/>
            <a:ext cx="29718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1F8FC"/>
                </a:solidFill>
                <a:latin typeface="Aptos"/>
              </a:rPr>
              <a:t>WORKING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486400"/>
            <a:ext cx="297180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19" b="1">
                <a:solidFill>
                  <a:srgbClr val="41EBCD"/>
                </a:solidFill>
                <a:latin typeface="Aptos"/>
              </a:rPr>
              <a:t>Python desktop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9DB5C6"/>
                </a:solidFill>
                <a:latin typeface="Aptos"/>
              </a:rPr>
              <a:t>AQUAGUARD  •  HACK-AI-THON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50" b="1">
                <a:solidFill>
                  <a:srgbClr val="00D3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D3FF"/>
                </a:solidFill>
                <a:latin typeface="Aptos"/>
              </a:rPr>
              <a:t>01 •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8FC"/>
                </a:solidFill>
                <a:latin typeface="Aptos"/>
              </a:rPr>
              <a:t>The problem: raw water data needs a decision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DB5C6"/>
                </a:solidFill>
                <a:latin typeface="Aptos"/>
              </a:rPr>
              <a:t>The challenge requires a functional Python prototype — not just a concept.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6766560" cy="425196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5798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3FF"/>
                </a:solidFill>
                <a:latin typeface="Aptos"/>
              </a:rPr>
              <a:t>WHAT MUST THE SYSTEM DO?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651760"/>
            <a:ext cx="402336" cy="402336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402336" cy="40233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00D3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642616"/>
            <a:ext cx="13258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42616"/>
            <a:ext cx="41605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DB5C6"/>
                </a:solidFill>
                <a:latin typeface="Aptos"/>
              </a:rPr>
              <a:t>Daily consumption, pH and turbidity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273552"/>
            <a:ext cx="402336" cy="402336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73552"/>
            <a:ext cx="402336" cy="40233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00D3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264408"/>
            <a:ext cx="13258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264408"/>
            <a:ext cx="41605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DB5C6"/>
                </a:solidFill>
                <a:latin typeface="Aptos"/>
              </a:rPr>
              <a:t>Abnormal readings using thresholds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895344"/>
            <a:ext cx="402336" cy="402336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402336" cy="40233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00D3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886200"/>
            <a:ext cx="13258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886200"/>
            <a:ext cx="41605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DB5C6"/>
                </a:solidFill>
                <a:latin typeface="Aptos"/>
              </a:rPr>
              <a:t>Excessive use and unsafe values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517136"/>
            <a:ext cx="402336" cy="402336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17136"/>
            <a:ext cx="402336" cy="40233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00D3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507992"/>
            <a:ext cx="13258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SUMMARIZE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507992"/>
            <a:ext cx="41605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DB5C6"/>
                </a:solidFill>
                <a:latin typeface="Aptos"/>
              </a:rPr>
              <a:t>Location / household insights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5138927"/>
            <a:ext cx="402336" cy="402336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38927"/>
            <a:ext cx="402336" cy="40233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00D3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5129783"/>
            <a:ext cx="13258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RECOMMEND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129783"/>
            <a:ext cx="41605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DB5C6"/>
                </a:solidFill>
                <a:latin typeface="Aptos"/>
              </a:rPr>
              <a:t>Conservation 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1874519"/>
            <a:ext cx="3959352" cy="4251960"/>
          </a:xfrm>
          <a:prstGeom prst="roundRect">
            <a:avLst/>
          </a:prstGeom>
          <a:solidFill>
            <a:srgbClr val="07101C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2176272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EBCD"/>
                </a:solidFill>
                <a:latin typeface="Aptos"/>
              </a:rPr>
              <a:t>THE AQUAGUARD IDEA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670048"/>
            <a:ext cx="29718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1F8FC"/>
                </a:solidFill>
                <a:latin typeface="Aptos"/>
              </a:rPr>
              <a:t>Input → Logic → Insight →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429000"/>
            <a:ext cx="2971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DB5C6"/>
                </a:solidFill>
                <a:latin typeface="Aptos"/>
              </a:rPr>
              <a:t>A reading is not the end of the workflow.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041648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D3FF"/>
                </a:solidFill>
                <a:latin typeface="Aptos"/>
              </a:rPr>
              <a:t>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4041648"/>
            <a:ext cx="23317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1F8FC"/>
                </a:solidFill>
                <a:latin typeface="Aptos"/>
              </a:rPr>
              <a:t>usage • pH • turbidity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480560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D3FF"/>
                </a:solidFill>
                <a:latin typeface="Aptos"/>
              </a:rPr>
              <a:t>LOGIC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6528" y="4480560"/>
            <a:ext cx="23317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1F8FC"/>
                </a:solidFill>
                <a:latin typeface="Aptos"/>
              </a:rPr>
              <a:t>threshold checks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D3FF"/>
                </a:solidFill>
                <a:latin typeface="Aptos"/>
              </a:rPr>
              <a:t>INSIGHT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919472"/>
            <a:ext cx="23317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1F8FC"/>
                </a:solidFill>
                <a:latin typeface="Aptos"/>
              </a:rPr>
              <a:t>trend +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358383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D3FF"/>
                </a:solidFill>
                <a:latin typeface="Aptos"/>
              </a:rPr>
              <a:t>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528" y="5358383"/>
            <a:ext cx="23317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1F8FC"/>
                </a:solidFill>
                <a:latin typeface="Aptos"/>
              </a:rPr>
              <a:t>alerts + recommendations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9DB5C6"/>
                </a:solidFill>
                <a:latin typeface="Aptos"/>
              </a:rPr>
              <a:t>AQUAGUARD  •  HACK-AI-THON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50" b="1">
                <a:solidFill>
                  <a:srgbClr val="00D3F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D3FF"/>
                </a:solidFill>
                <a:latin typeface="Aptos"/>
              </a:rPr>
              <a:t>02 • SDG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8FC"/>
                </a:solidFill>
                <a:latin typeface="Aptos"/>
              </a:rPr>
              <a:t>Two SDGs. One practical monitoring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DB5C6"/>
                </a:solidFill>
                <a:latin typeface="Aptos"/>
              </a:rPr>
              <a:t>AquaGuard follows the challenge's stated alignment with SDG 6 and SDG 12.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5303520" cy="384048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21992"/>
            <a:ext cx="10972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0D3FF"/>
                </a:solidFill>
                <a:latin typeface="Aptos"/>
              </a:rPr>
              <a:t>SDG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49424"/>
            <a:ext cx="34747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1F8FC"/>
                </a:solidFill>
                <a:latin typeface="Aptos"/>
              </a:rPr>
              <a:t>Clean Water &amp; Sanitation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07792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41EBCD"/>
                </a:solidFill>
                <a:latin typeface="Aptos"/>
              </a:rPr>
              <a:t>QUALITY VISIBILITY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38328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1EBCD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64992"/>
            <a:ext cx="3931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Track pH and turbidity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97764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7764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1EBCD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59352"/>
            <a:ext cx="3931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Flag potentially unsafe samples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7200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1EBCD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553712"/>
            <a:ext cx="3931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Generate recommendations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920240"/>
            <a:ext cx="5303520" cy="384048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221992"/>
            <a:ext cx="10972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41EBCD"/>
                </a:solidFill>
                <a:latin typeface="Aptos"/>
              </a:rPr>
              <a:t>SDG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249424"/>
            <a:ext cx="34747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1F8FC"/>
                </a:solidFill>
                <a:latin typeface="Aptos"/>
              </a:rPr>
              <a:t>Responsible Consumption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907792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D3FF"/>
                </a:solidFill>
                <a:latin typeface="Aptos"/>
              </a:rPr>
              <a:t>USAGE VISIBILITY</a:t>
            </a:r>
          </a:p>
        </p:txBody>
      </p:sp>
      <p:sp>
        <p:nvSpPr>
          <p:cNvPr id="22" name="Oval 21"/>
          <p:cNvSpPr/>
          <p:nvPr/>
        </p:nvSpPr>
        <p:spPr>
          <a:xfrm>
            <a:off x="6565392" y="338328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338328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00D3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3364992"/>
            <a:ext cx="3931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Record daily consumption</a:t>
            </a:r>
          </a:p>
        </p:txBody>
      </p:sp>
      <p:sp>
        <p:nvSpPr>
          <p:cNvPr id="25" name="Oval 24"/>
          <p:cNvSpPr/>
          <p:nvPr/>
        </p:nvSpPr>
        <p:spPr>
          <a:xfrm>
            <a:off x="6565392" y="397764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397764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00D3FF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3959352"/>
            <a:ext cx="3931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Detect excessive use</a:t>
            </a:r>
          </a:p>
        </p:txBody>
      </p:sp>
      <p:sp>
        <p:nvSpPr>
          <p:cNvPr id="28" name="Oval 27"/>
          <p:cNvSpPr/>
          <p:nvPr/>
        </p:nvSpPr>
        <p:spPr>
          <a:xfrm>
            <a:off x="6565392" y="457200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57200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00D3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4553712"/>
            <a:ext cx="3931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Encourage conservation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9DB5C6"/>
                </a:solidFill>
                <a:latin typeface="Aptos"/>
              </a:rPr>
              <a:t>AQUAGUARD  •  HACK-AI-THON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50" b="1">
                <a:solidFill>
                  <a:srgbClr val="00D3F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D3FF"/>
                </a:solidFill>
                <a:latin typeface="Aptos"/>
              </a:rPr>
              <a:t>03 •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8FC"/>
                </a:solidFill>
                <a:latin typeface="Aptos"/>
              </a:rPr>
              <a:t>AquaGuard turns a daily entry into a useful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DB5C6"/>
                </a:solidFill>
                <a:latin typeface="Aptos"/>
              </a:rPr>
              <a:t>A modern Python desktop prototype using the supplied CustomTkinter implementation.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2560320" cy="2423160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395728"/>
            <a:ext cx="438912" cy="438912"/>
          </a:xfrm>
          <a:prstGeom prst="ellipse">
            <a:avLst/>
          </a:prstGeom>
          <a:solidFill>
            <a:srgbClr val="0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95728"/>
            <a:ext cx="438912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7101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50592"/>
            <a:ext cx="13716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9DB5C6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2148840" cy="777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1F8FC"/>
                </a:solidFill>
                <a:latin typeface="Aptos"/>
              </a:rPr>
              <a:t>Location + user
Date + water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968" y="3154680"/>
            <a:ext cx="320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00D3F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148840"/>
            <a:ext cx="2560320" cy="2423160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93592" y="2395728"/>
            <a:ext cx="438912" cy="438912"/>
          </a:xfrm>
          <a:prstGeom prst="ellipse">
            <a:avLst/>
          </a:prstGeom>
          <a:solidFill>
            <a:srgbClr val="0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2395728"/>
            <a:ext cx="438912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7101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450592"/>
            <a:ext cx="13716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9DB5C6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3063240"/>
            <a:ext cx="2148840" cy="777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1F8FC"/>
                </a:solidFill>
                <a:latin typeface="Aptos"/>
              </a:rPr>
              <a:t>Threshold rules
Abnormality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154680"/>
            <a:ext cx="320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00D3FF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2148840"/>
            <a:ext cx="2560320" cy="2423160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9944" y="2395728"/>
            <a:ext cx="438912" cy="438912"/>
          </a:xfrm>
          <a:prstGeom prst="ellipse">
            <a:avLst/>
          </a:prstGeom>
          <a:solidFill>
            <a:srgbClr val="0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2395728"/>
            <a:ext cx="438912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7101C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304" y="2450592"/>
            <a:ext cx="13716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9DB5C6"/>
                </a:solidFill>
                <a:latin typeface="Aptos"/>
              </a:rP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063240"/>
            <a:ext cx="2148840" cy="777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1F8FC"/>
                </a:solidFill>
                <a:latin typeface="Aptos"/>
              </a:rPr>
              <a:t>Average + trend
Status +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3154680"/>
            <a:ext cx="320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00D3FF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3416" y="2148840"/>
            <a:ext cx="2560320" cy="2423160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26296" y="2395728"/>
            <a:ext cx="438912" cy="438912"/>
          </a:xfrm>
          <a:prstGeom prst="ellipse">
            <a:avLst/>
          </a:prstGeom>
          <a:solidFill>
            <a:srgbClr val="0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6296" y="2395728"/>
            <a:ext cx="438912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7101C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6" y="2450592"/>
            <a:ext cx="13716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9DB5C6"/>
                </a:solidFill>
                <a:latin typeface="Aptos"/>
              </a:rPr>
              <a:t>RESPOND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3063240"/>
            <a:ext cx="2148840" cy="777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1F8FC"/>
                </a:solidFill>
                <a:latin typeface="Aptos"/>
              </a:rPr>
              <a:t>Report + recommendations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956048"/>
            <a:ext cx="11000232" cy="841248"/>
          </a:xfrm>
          <a:prstGeom prst="roundRect">
            <a:avLst/>
          </a:prstGeom>
          <a:solidFill>
            <a:srgbClr val="07101C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193792"/>
            <a:ext cx="14173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DESIGN PRINCIPLE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5102352"/>
            <a:ext cx="78638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1F8FC"/>
                </a:solidFill>
                <a:latin typeface="Aptos"/>
              </a:rPr>
              <a:t>Raw data  →  meaningful insight  →  visible 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9DB5C6"/>
                </a:solidFill>
                <a:latin typeface="Aptos"/>
              </a:rPr>
              <a:t>AQUAGUARD  •  HACK-AI-THON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50" b="1">
                <a:solidFill>
                  <a:srgbClr val="00D3F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D3FF"/>
                </a:solidFill>
                <a:latin typeface="Aptos"/>
              </a:rPr>
              <a:t>04 • OOP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8FC"/>
                </a:solidFill>
                <a:latin typeface="Aptos"/>
              </a:rPr>
              <a:t>Clear objects keep the monitoring logic explainable.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DB5C6"/>
                </a:solidFill>
                <a:latin typeface="Aptos"/>
              </a:rPr>
              <a:t>The source defines Location, User, WaterReading and MonitoringReport classes.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743200" cy="1874519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377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D3FF"/>
                </a:solidFill>
                <a:latin typeface="Aptos"/>
              </a:rPr>
              <a:t>Location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2532888"/>
            <a:ext cx="2377439" cy="0"/>
          </a:xfrm>
          <a:prstGeom prst="line">
            <a:avLst/>
          </a:prstGeom>
          <a:ln w="19050">
            <a:solidFill>
              <a:srgbClr val="264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2715768"/>
            <a:ext cx="2377440" cy="100583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F1F8FC"/>
                </a:solidFill>
                <a:latin typeface="Consolas"/>
              </a:rPr>
              <a:t>name
address
location_type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965960"/>
            <a:ext cx="2743200" cy="1874519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148840"/>
            <a:ext cx="2377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D3FF"/>
                </a:solidFill>
                <a:latin typeface="Aptos"/>
              </a:rPr>
              <a:t>User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03320" y="2532888"/>
            <a:ext cx="2377439" cy="0"/>
          </a:xfrm>
          <a:prstGeom prst="line">
            <a:avLst/>
          </a:prstGeom>
          <a:ln w="19050">
            <a:solidFill>
              <a:srgbClr val="264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03320" y="2715768"/>
            <a:ext cx="2377440" cy="100583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F1F8FC"/>
                </a:solidFill>
                <a:latin typeface="Consolas"/>
              </a:rPr>
              <a:t>user_id
name
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965960"/>
            <a:ext cx="5148072" cy="1874519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148840"/>
            <a:ext cx="4782312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D3FF"/>
                </a:solidFill>
                <a:latin typeface="Aptos"/>
              </a:rPr>
              <a:t>WaterReading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29400" y="2532888"/>
            <a:ext cx="4782312" cy="0"/>
          </a:xfrm>
          <a:prstGeom prst="line">
            <a:avLst/>
          </a:prstGeom>
          <a:ln w="19050">
            <a:solidFill>
              <a:srgbClr val="264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29400" y="2715768"/>
            <a:ext cx="4782312" cy="100583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F1F8FC"/>
                </a:solidFill>
                <a:latin typeface="Consolas"/>
              </a:rPr>
              <a:t>reading_date • location • recorded_by
consumption • ph • turbidity
is_abnormal() • get_alerts()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4315968"/>
            <a:ext cx="4572000" cy="1508760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4498848"/>
            <a:ext cx="42062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D3FF"/>
                </a:solidFill>
                <a:latin typeface="Aptos"/>
              </a:rPr>
              <a:t>MonitoringReport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40280" y="4882896"/>
            <a:ext cx="4206240" cy="0"/>
          </a:xfrm>
          <a:prstGeom prst="line">
            <a:avLst/>
          </a:prstGeom>
          <a:ln w="19050">
            <a:solidFill>
              <a:srgbClr val="264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40280" y="5065776"/>
            <a:ext cx="420624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F1F8FC"/>
                </a:solidFill>
                <a:latin typeface="Consolas"/>
              </a:rPr>
              <a:t>readings • generated_at
average_consumption() • consumption_trend()
status() • get_all_alerts() • recommendations()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37560" y="2834640"/>
            <a:ext cx="182880" cy="0"/>
          </a:xfrm>
          <a:prstGeom prst="line">
            <a:avLst/>
          </a:prstGeom>
          <a:ln w="17780">
            <a:solidFill>
              <a:srgbClr val="00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63640" y="2834640"/>
            <a:ext cx="182880" cy="0"/>
          </a:xfrm>
          <a:prstGeom prst="line">
            <a:avLst/>
          </a:prstGeom>
          <a:ln w="17780">
            <a:solidFill>
              <a:srgbClr val="00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212080" y="3840480"/>
            <a:ext cx="2743199" cy="475488"/>
          </a:xfrm>
          <a:prstGeom prst="line">
            <a:avLst/>
          </a:prstGeom>
          <a:ln w="17780">
            <a:solidFill>
              <a:srgbClr val="00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9DB5C6"/>
                </a:solidFill>
                <a:latin typeface="Aptos"/>
              </a:rPr>
              <a:t>AQUAGUARD  •  HACK-AI-THON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50" b="1">
                <a:solidFill>
                  <a:srgbClr val="00D3F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D3FF"/>
                </a:solidFill>
                <a:latin typeface="Aptos"/>
              </a:rPr>
              <a:t>05 • DECISION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8FC"/>
                </a:solidFill>
                <a:latin typeface="Aptos"/>
              </a:rPr>
              <a:t>Every alert has a visible rule behind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DB5C6"/>
                </a:solidFill>
                <a:latin typeface="Aptos"/>
              </a:rPr>
              <a:t>The supplied code uses explicit limits and turns exceptions into readable messages.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560320" cy="91440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29968"/>
            <a:ext cx="2286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PH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1F8FC"/>
                </a:solidFill>
                <a:latin typeface="Aptos"/>
              </a:rPr>
              <a:t>6.5 – 8.5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28600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19" b="1">
                <a:solidFill>
                  <a:srgbClr val="00D3FF"/>
                </a:solidFill>
                <a:latin typeface="Aptos"/>
              </a:rPr>
              <a:t>outside → alert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920240"/>
            <a:ext cx="2560320" cy="91440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2029968"/>
            <a:ext cx="2286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TURBIDITY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240280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1F8FC"/>
                </a:solidFill>
                <a:latin typeface="Aptos"/>
              </a:rPr>
              <a:t>5.0 NTU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606040"/>
            <a:ext cx="228600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19" b="1">
                <a:solidFill>
                  <a:srgbClr val="41EBCD"/>
                </a:solidFill>
                <a:latin typeface="Aptos"/>
              </a:rPr>
              <a:t>above → alert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1920240"/>
            <a:ext cx="2560320" cy="91440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2029968"/>
            <a:ext cx="2286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CONSUMPTION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2240280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1F8FC"/>
                </a:solidFill>
                <a:latin typeface="Aptos"/>
              </a:rPr>
              <a:t>450 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606040"/>
            <a:ext cx="228600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19" b="1">
                <a:solidFill>
                  <a:srgbClr val="FFBE47"/>
                </a:solidFill>
                <a:latin typeface="Aptos"/>
              </a:rPr>
              <a:t>above → alert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920240"/>
            <a:ext cx="2688336" cy="91440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3416" y="2029968"/>
            <a:ext cx="241401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416" y="2240280"/>
            <a:ext cx="2414016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1F8FC"/>
                </a:solidFill>
                <a:latin typeface="Aptos"/>
              </a:rPr>
              <a:t>±15%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606040"/>
            <a:ext cx="241401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19" b="1">
                <a:solidFill>
                  <a:srgbClr val="00D3FF"/>
                </a:solidFill>
                <a:latin typeface="Aptos"/>
              </a:rPr>
              <a:t>first vs last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246120"/>
            <a:ext cx="11000232" cy="2423160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611880"/>
            <a:ext cx="9144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9DB5C6"/>
                </a:solidFill>
                <a:latin typeface="Aptos"/>
              </a:rPr>
              <a:t>READING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77639"/>
            <a:ext cx="1554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1F8FC"/>
                </a:solidFill>
                <a:latin typeface="Consolas"/>
              </a:rPr>
              <a:t>usage • pH • NTU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886200"/>
            <a:ext cx="3657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0D3FF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657600"/>
            <a:ext cx="15087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D3FF"/>
                </a:solidFill>
                <a:latin typeface="Consolas"/>
              </a:rPr>
              <a:t>is_abnormal()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3977639"/>
            <a:ext cx="15087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DB5C6"/>
                </a:solidFill>
                <a:latin typeface="Aptos"/>
              </a:rPr>
              <a:t>threshold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3886200"/>
            <a:ext cx="3657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0D3FF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365760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1EBCD"/>
                </a:solidFill>
                <a:latin typeface="Consolas"/>
              </a:rPr>
              <a:t>get_alerts()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977639"/>
            <a:ext cx="1645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DB5C6"/>
                </a:solidFill>
                <a:latin typeface="Aptos"/>
              </a:rPr>
              <a:t>explain the exception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3886200"/>
            <a:ext cx="3657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0D3FF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657600"/>
            <a:ext cx="2057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Consolas"/>
              </a:rPr>
              <a:t>recommendations()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977639"/>
            <a:ext cx="18288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DB5C6"/>
                </a:solidFill>
                <a:latin typeface="Aptos"/>
              </a:rPr>
              <a:t>suggest an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983480"/>
            <a:ext cx="9418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DB5C6"/>
                </a:solidFill>
                <a:latin typeface="Aptos"/>
              </a:rPr>
              <a:t>Transparent rule-based logic makes the prototype easy to demonstrate and extend.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9DB5C6"/>
                </a:solidFill>
                <a:latin typeface="Aptos"/>
              </a:rPr>
              <a:t>AQUAGUARD  •  HACK-AI-THON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50" b="1">
                <a:solidFill>
                  <a:srgbClr val="00D3F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D3FF"/>
                </a:solidFill>
                <a:latin typeface="Aptos"/>
              </a:rPr>
              <a:t>06 • LIVE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8FC"/>
                </a:solidFill>
                <a:latin typeface="Aptos"/>
              </a:rPr>
              <a:t>The real interface: input, readings and reporting in one screen.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DB5C6"/>
                </a:solidFill>
                <a:latin typeface="Aptos"/>
              </a:rPr>
              <a:t>The supplied screenshot demonstrates the working desktop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" y="1967483"/>
            <a:ext cx="7150608" cy="4066032"/>
          </a:xfrm>
          <a:prstGeom prst="roundRect">
            <a:avLst/>
          </a:prstGeom>
          <a:solidFill>
            <a:srgbClr val="07101C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237481e-a548-4501-b4ea-b24da48258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22347"/>
            <a:ext cx="7040880" cy="3956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783080"/>
            <a:ext cx="3730752" cy="4434840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2075688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3FF"/>
                </a:solidFill>
                <a:latin typeface="Aptos"/>
              </a:rPr>
              <a:t>DEMO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2606040"/>
            <a:ext cx="2834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1F8FC"/>
                </a:solidFill>
                <a:latin typeface="Aptos"/>
              </a:rPr>
              <a:t>Recorded readings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880360"/>
            <a:ext cx="2834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80" b="0">
                <a:solidFill>
                  <a:srgbClr val="9DB5C6"/>
                </a:solidFill>
                <a:latin typeface="Aptos"/>
              </a:rPr>
              <a:t>Date • location • litres • pH • turbidity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3429000"/>
            <a:ext cx="2834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1F8FC"/>
                </a:solidFill>
                <a:latin typeface="Aptos"/>
              </a:rPr>
              <a:t>Instant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3703320"/>
            <a:ext cx="2834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80" b="0">
                <a:solidFill>
                  <a:srgbClr val="9DB5C6"/>
                </a:solidFill>
                <a:latin typeface="Aptos"/>
              </a:rPr>
              <a:t>Normal or abnormal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251960"/>
            <a:ext cx="2834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1F8FC"/>
                </a:solidFill>
                <a:latin typeface="Aptos"/>
              </a:rPr>
              <a:t>Monitoring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4526280"/>
            <a:ext cx="2834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80" b="0">
                <a:solidFill>
                  <a:srgbClr val="9DB5C6"/>
                </a:solidFill>
                <a:latin typeface="Aptos"/>
              </a:rPr>
              <a:t>Average • trend •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5074920"/>
            <a:ext cx="2834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1F8FC"/>
                </a:solidFill>
                <a:latin typeface="Aptos"/>
              </a:rPr>
              <a:t>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5349240"/>
            <a:ext cx="2834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80" b="0">
                <a:solidFill>
                  <a:srgbClr val="9DB5C6"/>
                </a:solidFill>
                <a:latin typeface="Aptos"/>
              </a:rPr>
              <a:t>Actions generated from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9DB5C6"/>
                </a:solidFill>
                <a:latin typeface="Aptos"/>
              </a:rPr>
              <a:t>AQUAGUARD  •  HACK-AI-THON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50" b="1">
                <a:solidFill>
                  <a:srgbClr val="00D3F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D3FF"/>
                </a:solidFill>
                <a:latin typeface="Aptos"/>
              </a:rPr>
              <a:t>07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8FC"/>
                </a:solidFill>
                <a:latin typeface="Aptos"/>
              </a:rPr>
              <a:t>Seven sample readings already tell a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DB5C6"/>
                </a:solidFill>
                <a:latin typeface="Aptos"/>
              </a:rPr>
              <a:t>Using the representative values present in the supplied Python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5623560" cy="416052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30552"/>
            <a:ext cx="3291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DB5C6"/>
                </a:solidFill>
                <a:latin typeface="Aptos"/>
              </a:rPr>
              <a:t>SAMPLE DAILY CONSUMPTION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812216"/>
            <a:ext cx="429768" cy="1262703"/>
          </a:xfrm>
          <a:prstGeom prst="roundRect">
            <a:avLst/>
          </a:prstGeom>
          <a:solidFill>
            <a:srgbClr val="0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3556184"/>
            <a:ext cx="61264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1F8FC"/>
                </a:solidFill>
                <a:latin typeface="Aptos"/>
              </a:rPr>
              <a:t>310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5184648"/>
            <a:ext cx="53035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9DB5C6"/>
                </a:solidFill>
                <a:latin typeface="Aptos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3751118"/>
            <a:ext cx="429768" cy="1323801"/>
          </a:xfrm>
          <a:prstGeom prst="roundRect">
            <a:avLst/>
          </a:prstGeom>
          <a:solidFill>
            <a:srgbClr val="0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19" y="3495086"/>
            <a:ext cx="61264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1F8FC"/>
                </a:solidFill>
                <a:latin typeface="Aptos"/>
              </a:rPr>
              <a:t>325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2495" y="5184648"/>
            <a:ext cx="53035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9DB5C6"/>
                </a:solidFill>
                <a:latin typeface="Aptos"/>
              </a:rPr>
              <a:t>09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3119766"/>
            <a:ext cx="429768" cy="1955153"/>
          </a:xfrm>
          <a:prstGeom prst="roundRect">
            <a:avLst/>
          </a:prstGeom>
          <a:solidFill>
            <a:srgbClr val="FF5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2863734"/>
            <a:ext cx="61264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1F8FC"/>
                </a:solidFill>
                <a:latin typeface="Aptos"/>
              </a:rPr>
              <a:t>480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8296" y="5184648"/>
            <a:ext cx="53035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9DB5C6"/>
                </a:solidFill>
                <a:latin typeface="Aptos"/>
              </a:rPr>
              <a:t>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2997569"/>
            <a:ext cx="429768" cy="2077350"/>
          </a:xfrm>
          <a:prstGeom prst="roundRect">
            <a:avLst/>
          </a:prstGeom>
          <a:solidFill>
            <a:srgbClr val="FF5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741537"/>
            <a:ext cx="61264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1F8FC"/>
                </a:solidFill>
                <a:latin typeface="Aptos"/>
              </a:rPr>
              <a:t>510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5184648"/>
            <a:ext cx="53035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9DB5C6"/>
                </a:solidFill>
                <a:latin typeface="Aptos"/>
              </a:rPr>
              <a:t>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3893681"/>
            <a:ext cx="429768" cy="1181238"/>
          </a:xfrm>
          <a:prstGeom prst="roundRect">
            <a:avLst/>
          </a:prstGeom>
          <a:solidFill>
            <a:srgbClr val="0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3637649"/>
            <a:ext cx="61264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1F8FC"/>
                </a:solidFill>
                <a:latin typeface="Aptos"/>
              </a:rPr>
              <a:t>290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9896" y="5184648"/>
            <a:ext cx="53035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9DB5C6"/>
                </a:solidFill>
                <a:latin typeface="Aptos"/>
              </a:rPr>
              <a:t>09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832582"/>
            <a:ext cx="429768" cy="1242337"/>
          </a:xfrm>
          <a:prstGeom prst="roundRect">
            <a:avLst/>
          </a:prstGeom>
          <a:solidFill>
            <a:srgbClr val="0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576550"/>
            <a:ext cx="61264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1F8FC"/>
                </a:solidFill>
                <a:latin typeface="Aptos"/>
              </a:rPr>
              <a:t>305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5696" y="5184648"/>
            <a:ext cx="53035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9DB5C6"/>
                </a:solidFill>
                <a:latin typeface="Aptos"/>
              </a:rPr>
              <a:t>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66360" y="3861095"/>
            <a:ext cx="429768" cy="1213824"/>
          </a:xfrm>
          <a:prstGeom prst="roundRect">
            <a:avLst/>
          </a:prstGeom>
          <a:solidFill>
            <a:srgbClr val="0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05063"/>
            <a:ext cx="61264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1F8FC"/>
                </a:solidFill>
                <a:latin typeface="Aptos"/>
              </a:rPr>
              <a:t>298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1496" y="5184648"/>
            <a:ext cx="53035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9DB5C6"/>
                </a:solidFill>
                <a:latin typeface="Aptos"/>
              </a:rPr>
              <a:t>11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51560" y="5074920"/>
            <a:ext cx="4572000" cy="0"/>
          </a:xfrm>
          <a:prstGeom prst="line">
            <a:avLst/>
          </a:prstGeom>
          <a:ln w="19050">
            <a:solidFill>
              <a:srgbClr val="264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37960" y="1874519"/>
            <a:ext cx="2331720" cy="91440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1984248"/>
            <a:ext cx="20574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READINGS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194560"/>
            <a:ext cx="20574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1F8FC"/>
                </a:solidFill>
                <a:latin typeface="Apto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560320"/>
            <a:ext cx="205740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19" b="1">
                <a:solidFill>
                  <a:srgbClr val="00D3FF"/>
                </a:solidFill>
                <a:latin typeface="Aptos"/>
              </a:rPr>
              <a:t>sample records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9992" y="1874519"/>
            <a:ext cx="2514600" cy="91440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17152" y="1984248"/>
            <a:ext cx="22402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ABNORMAL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2194560"/>
            <a:ext cx="2240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1F8FC"/>
                </a:solidFill>
                <a:latin typeface="Apto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2560320"/>
            <a:ext cx="22402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19" b="1">
                <a:solidFill>
                  <a:srgbClr val="FF5B67"/>
                </a:solidFill>
                <a:latin typeface="Aptos"/>
              </a:rPr>
              <a:t>at least one limit crossed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37960" y="2971800"/>
            <a:ext cx="2331720" cy="91440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081528"/>
            <a:ext cx="20574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AVERAGE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291840"/>
            <a:ext cx="20574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1F8FC"/>
                </a:solidFill>
                <a:latin typeface="Aptos"/>
              </a:rPr>
              <a:t>359.7 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657600"/>
            <a:ext cx="205740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19" b="1">
                <a:solidFill>
                  <a:srgbClr val="41EBCD"/>
                </a:solidFill>
                <a:latin typeface="Aptos"/>
              </a:rPr>
              <a:t>across uploaded data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79992" y="2971800"/>
            <a:ext cx="2514600" cy="91440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17152" y="3081528"/>
            <a:ext cx="22402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PEAK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3291840"/>
            <a:ext cx="2240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1F8FC"/>
                </a:solidFill>
                <a:latin typeface="Aptos"/>
              </a:rPr>
              <a:t>510 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3657600"/>
            <a:ext cx="22402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19" b="1">
                <a:solidFill>
                  <a:srgbClr val="FFBE47"/>
                </a:solidFill>
                <a:latin typeface="Aptos"/>
              </a:rPr>
              <a:t>consumption threshold crossed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37960" y="4187952"/>
            <a:ext cx="5056632" cy="1508760"/>
          </a:xfrm>
          <a:prstGeom prst="roundRect">
            <a:avLst/>
          </a:prstGeom>
          <a:solidFill>
            <a:srgbClr val="07101C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30568" y="4462272"/>
            <a:ext cx="18288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9DB5C6"/>
                </a:solidFill>
                <a:latin typeface="Aptos"/>
              </a:rPr>
              <a:t>WHAT THIS SHOWS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0568" y="4818888"/>
            <a:ext cx="4297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1F8FC"/>
                </a:solidFill>
                <a:latin typeface="Aptos"/>
              </a:rPr>
              <a:t>The system turns raw rows into exceptions, trends and actions.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9DB5C6"/>
                </a:solidFill>
                <a:latin typeface="Aptos"/>
              </a:rPr>
              <a:t>AQUAGUARD  •  HACK-AI-THON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50" b="1">
                <a:solidFill>
                  <a:srgbClr val="00D3F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D3FF"/>
                </a:solidFill>
                <a:latin typeface="Aptos"/>
              </a:rPr>
              <a:t>08 •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8FC"/>
                </a:solidFill>
                <a:latin typeface="Aptos"/>
              </a:rPr>
              <a:t>A report should answer the judge's next question.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DB5C6"/>
                </a:solidFill>
                <a:latin typeface="Aptos"/>
              </a:rPr>
              <a:t>MonitoringReport combines status, averages, trend, alerts and recommendations.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6903720" cy="4343400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D3FF"/>
                </a:solidFill>
                <a:latin typeface="Consolas"/>
              </a:rPr>
              <a:t>AQUAGUARD MONITORING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697480"/>
            <a:ext cx="1508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Consolas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697480"/>
            <a:ext cx="44348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BE47"/>
                </a:solidFill>
                <a:latin typeface="Consolas"/>
              </a:rPr>
              <a:t>ATTENTION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27832"/>
            <a:ext cx="1508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Consolas"/>
              </a:rPr>
              <a:t>TOTAL READINGS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227832"/>
            <a:ext cx="44348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1F8FC"/>
                </a:solidFill>
                <a:latin typeface="Consola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758184"/>
            <a:ext cx="1508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Consolas"/>
              </a:rPr>
              <a:t>AVG CONSUMPTION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758184"/>
            <a:ext cx="44348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1F8FC"/>
                </a:solidFill>
                <a:latin typeface="Consolas"/>
              </a:rPr>
              <a:t>406.2 L/day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288536"/>
            <a:ext cx="1508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Consolas"/>
              </a:rPr>
              <a:t>TREND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4288536"/>
            <a:ext cx="44348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41EBCD"/>
                </a:solidFill>
                <a:latin typeface="Consolas"/>
              </a:rPr>
              <a:t>Increasing 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818888"/>
            <a:ext cx="1508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Consolas"/>
              </a:rPr>
              <a:t>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818888"/>
            <a:ext cx="44348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1F8FC"/>
                </a:solidFill>
                <a:latin typeface="Consolas"/>
              </a:rPr>
              <a:t>Low pH • high consumption • high turbidity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6112" y="5321808"/>
            <a:ext cx="6254496" cy="0"/>
          </a:xfrm>
          <a:prstGeom prst="line">
            <a:avLst/>
          </a:prstGeom>
          <a:ln w="19050">
            <a:solidFill>
              <a:srgbClr val="264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96112" y="5504688"/>
            <a:ext cx="13716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468112"/>
            <a:ext cx="45720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F1F8FC"/>
                </a:solidFill>
                <a:latin typeface="Aptos"/>
              </a:rPr>
              <a:t>Reduce use • check leaks • test out-of-range water • address turbidity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4112" y="1874519"/>
            <a:ext cx="3840480" cy="4343400"/>
          </a:xfrm>
          <a:prstGeom prst="roundRect">
            <a:avLst/>
          </a:prstGeom>
          <a:solidFill>
            <a:srgbClr val="07101C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8" y="2176272"/>
            <a:ext cx="25603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3FF"/>
                </a:solidFill>
                <a:latin typeface="Aptos"/>
              </a:rPr>
              <a:t>FOUR QUESTIONS</a:t>
            </a:r>
          </a:p>
        </p:txBody>
      </p:sp>
      <p:sp>
        <p:nvSpPr>
          <p:cNvPr id="22" name="Oval 21"/>
          <p:cNvSpPr/>
          <p:nvPr/>
        </p:nvSpPr>
        <p:spPr>
          <a:xfrm>
            <a:off x="8065008" y="2743200"/>
            <a:ext cx="310896" cy="310896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8" y="2743200"/>
            <a:ext cx="310896" cy="31089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1EBCD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2734056"/>
            <a:ext cx="24231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Is usage rising?</a:t>
            </a:r>
          </a:p>
        </p:txBody>
      </p:sp>
      <p:sp>
        <p:nvSpPr>
          <p:cNvPr id="25" name="Oval 24"/>
          <p:cNvSpPr/>
          <p:nvPr/>
        </p:nvSpPr>
        <p:spPr>
          <a:xfrm>
            <a:off x="8065008" y="3364992"/>
            <a:ext cx="310896" cy="310896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8" y="3364992"/>
            <a:ext cx="310896" cy="31089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1EBCD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3355848"/>
            <a:ext cx="24231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Is quality normal?</a:t>
            </a:r>
          </a:p>
        </p:txBody>
      </p:sp>
      <p:sp>
        <p:nvSpPr>
          <p:cNvPr id="28" name="Oval 27"/>
          <p:cNvSpPr/>
          <p:nvPr/>
        </p:nvSpPr>
        <p:spPr>
          <a:xfrm>
            <a:off x="8065008" y="3986784"/>
            <a:ext cx="310896" cy="310896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8" y="3986784"/>
            <a:ext cx="310896" cy="31089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1EBCD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3977640"/>
            <a:ext cx="24231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What triggered the alert?</a:t>
            </a:r>
          </a:p>
        </p:txBody>
      </p:sp>
      <p:sp>
        <p:nvSpPr>
          <p:cNvPr id="31" name="Oval 30"/>
          <p:cNvSpPr/>
          <p:nvPr/>
        </p:nvSpPr>
        <p:spPr>
          <a:xfrm>
            <a:off x="8065008" y="4608576"/>
            <a:ext cx="310896" cy="310896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8" y="4608576"/>
            <a:ext cx="310896" cy="31089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1EBCD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7072" y="4599432"/>
            <a:ext cx="24231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What should we do next?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9DB5C6"/>
                </a:solidFill>
                <a:latin typeface="Aptos"/>
              </a:rPr>
              <a:t>AQUAGUARD  •  HACK-AI-THON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50" b="1">
                <a:solidFill>
                  <a:srgbClr val="00D3FF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D3FF"/>
                </a:solidFill>
                <a:latin typeface="Aptos"/>
              </a:rPr>
              <a:t>09 •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8FC"/>
                </a:solidFill>
                <a:latin typeface="Aptos"/>
              </a:rPr>
              <a:t>A 90-second demo with a clear beginning, middle and payoff.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DB5C6"/>
                </a:solidFill>
                <a:latin typeface="Aptos"/>
              </a:rPr>
              <a:t>Keep the live demonstration focused on one abnormal reading and the report it creates.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2578608" cy="3566160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2286000"/>
            <a:ext cx="475488" cy="475488"/>
          </a:xfrm>
          <a:prstGeom prst="ellipse">
            <a:avLst/>
          </a:prstGeom>
          <a:solidFill>
            <a:srgbClr val="0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86000"/>
            <a:ext cx="475488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7101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340864"/>
            <a:ext cx="1325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971800"/>
            <a:ext cx="20574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1F8FC"/>
                </a:solidFill>
                <a:latin typeface="Aptos"/>
              </a:rPr>
              <a:t>Add a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94760"/>
            <a:ext cx="2084831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DB5C6"/>
                </a:solidFill>
                <a:latin typeface="Aptos"/>
              </a:rPr>
              <a:t>location • date • usage
pH • turbidity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91256" y="3337560"/>
            <a:ext cx="320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D3F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2011680"/>
            <a:ext cx="2578608" cy="3566160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1880" y="2286000"/>
            <a:ext cx="475488" cy="475488"/>
          </a:xfrm>
          <a:prstGeom prst="ellipse">
            <a:avLst/>
          </a:prstGeom>
          <a:solidFill>
            <a:srgbClr val="0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286000"/>
            <a:ext cx="475488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7101C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2340864"/>
            <a:ext cx="1325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971800"/>
            <a:ext cx="20574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1F8FC"/>
                </a:solidFill>
                <a:latin typeface="Aptos"/>
              </a:rPr>
              <a:t>Show the 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794760"/>
            <a:ext cx="2084831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DB5C6"/>
                </a:solidFill>
                <a:latin typeface="Aptos"/>
              </a:rPr>
              <a:t>Normal / abnormal
threshold 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8" y="3337560"/>
            <a:ext cx="320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D3FF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2011680"/>
            <a:ext cx="2578608" cy="3566160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8232" y="2286000"/>
            <a:ext cx="475488" cy="475488"/>
          </a:xfrm>
          <a:prstGeom prst="ellipse">
            <a:avLst/>
          </a:prstGeom>
          <a:solidFill>
            <a:srgbClr val="0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286000"/>
            <a:ext cx="475488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7101C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0024" y="2340864"/>
            <a:ext cx="1325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971800"/>
            <a:ext cx="20574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1F8FC"/>
                </a:solidFill>
                <a:latin typeface="Aptos"/>
              </a:rPr>
              <a:t>Generate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794760"/>
            <a:ext cx="2084831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DB5C6"/>
                </a:solidFill>
                <a:latin typeface="Aptos"/>
              </a:rPr>
              <a:t>average • trend
alerts • 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3337560"/>
            <a:ext cx="320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D3F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3416" y="2011680"/>
            <a:ext cx="2578608" cy="3566160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44584" y="2286000"/>
            <a:ext cx="475488" cy="475488"/>
          </a:xfrm>
          <a:prstGeom prst="ellipse">
            <a:avLst/>
          </a:prstGeom>
          <a:solidFill>
            <a:srgbClr val="0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4584" y="2286000"/>
            <a:ext cx="475488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7101C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66376" y="2340864"/>
            <a:ext cx="1325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2971800"/>
            <a:ext cx="20574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1F8FC"/>
                </a:solidFill>
                <a:latin typeface="Aptos"/>
              </a:rPr>
              <a:t>Explain 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584" y="3794760"/>
            <a:ext cx="2084831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DB5C6"/>
                </a:solidFill>
                <a:latin typeface="Aptos"/>
              </a:rPr>
              <a:t>conserve • inspect
filter /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833872"/>
            <a:ext cx="9144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D3FF"/>
                </a:solidFill>
                <a:latin typeface="Aptos"/>
              </a:rPr>
              <a:t>DEMO 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5760720"/>
            <a:ext cx="9144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1F8FC"/>
                </a:solidFill>
                <a:latin typeface="Aptos"/>
              </a:rPr>
              <a:t>“AquaGuard does not just store the reading — it explains what the reading means.”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9DB5C6"/>
                </a:solidFill>
                <a:latin typeface="Aptos"/>
              </a:rPr>
              <a:t>AQUAGUARD  •  HACK-AI-THON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50" b="1">
                <a:solidFill>
                  <a:srgbClr val="00D3F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D3FF"/>
                </a:solidFill>
                <a:latin typeface="Aptos"/>
              </a:rPr>
              <a:t>10 •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1F8FC"/>
                </a:solidFill>
                <a:latin typeface="Aptos"/>
              </a:rPr>
              <a:t>Today: a functional prototype. Next: a connected water intelligence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DB5C6"/>
                </a:solidFill>
                <a:latin typeface="Aptos"/>
              </a:rPr>
              <a:t>The challenge asks for a prototype; these extensions show a credible path beyond the demo.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5303520" cy="4251960"/>
          </a:xfrm>
          <a:prstGeom prst="roundRect">
            <a:avLst/>
          </a:prstGeom>
          <a:solidFill>
            <a:srgbClr val="0F2233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67128"/>
            <a:ext cx="4023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EBCD"/>
                </a:solidFill>
                <a:latin typeface="Aptos"/>
              </a:rPr>
              <a:t>WHAT IS WORKING IN THE PROTOTYPE</a:t>
            </a:r>
          </a:p>
        </p:txBody>
      </p:sp>
      <p:sp>
        <p:nvSpPr>
          <p:cNvPr id="7" name="Oval 6"/>
          <p:cNvSpPr/>
          <p:nvPr/>
        </p:nvSpPr>
        <p:spPr>
          <a:xfrm>
            <a:off x="896112" y="265176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65176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1EBCD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642616"/>
            <a:ext cx="3977639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Python desktop GUI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315468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1EBCD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3145536"/>
            <a:ext cx="3977639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OOP classes + reusable logic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5760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65760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1EBCD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648456"/>
            <a:ext cx="3977639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Threshold-based anomaly detection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416052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16052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1EBCD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4151376"/>
            <a:ext cx="3977639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Alerts + recommendations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466344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66344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1EBCD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654296"/>
            <a:ext cx="3977639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Monitoring report</a:t>
            </a:r>
          </a:p>
        </p:txBody>
      </p:sp>
      <p:sp>
        <p:nvSpPr>
          <p:cNvPr id="22" name="Oval 21"/>
          <p:cNvSpPr/>
          <p:nvPr/>
        </p:nvSpPr>
        <p:spPr>
          <a:xfrm>
            <a:off x="896112" y="5166359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166359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41EBCD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5157216"/>
            <a:ext cx="3977639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Representative sample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874519"/>
            <a:ext cx="5422392" cy="4251960"/>
          </a:xfrm>
          <a:prstGeom prst="roundRect">
            <a:avLst/>
          </a:prstGeom>
          <a:solidFill>
            <a:srgbClr val="07101C"/>
          </a:solidFill>
          <a:ln>
            <a:solidFill>
              <a:srgbClr val="26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2167128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3FF"/>
                </a:solidFill>
                <a:latin typeface="Aptos"/>
              </a:rPr>
              <a:t>NEXT EVOLUTION</a:t>
            </a:r>
          </a:p>
        </p:txBody>
      </p:sp>
      <p:sp>
        <p:nvSpPr>
          <p:cNvPr id="27" name="Oval 26"/>
          <p:cNvSpPr/>
          <p:nvPr/>
        </p:nvSpPr>
        <p:spPr>
          <a:xfrm>
            <a:off x="6473952" y="265176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265176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0D3FF"/>
                </a:solidFill>
                <a:latin typeface="Aptos"/>
              </a:rP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2642616"/>
            <a:ext cx="41605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IoT / real sensor integration</a:t>
            </a:r>
          </a:p>
        </p:txBody>
      </p:sp>
      <p:sp>
        <p:nvSpPr>
          <p:cNvPr id="30" name="Oval 29"/>
          <p:cNvSpPr/>
          <p:nvPr/>
        </p:nvSpPr>
        <p:spPr>
          <a:xfrm>
            <a:off x="6473952" y="315468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315468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0D3FF"/>
                </a:solidFill>
                <a:latin typeface="Aptos"/>
              </a:rP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3145536"/>
            <a:ext cx="41605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Persistent database storage</a:t>
            </a:r>
          </a:p>
        </p:txBody>
      </p:sp>
      <p:sp>
        <p:nvSpPr>
          <p:cNvPr id="33" name="Oval 32"/>
          <p:cNvSpPr/>
          <p:nvPr/>
        </p:nvSpPr>
        <p:spPr>
          <a:xfrm>
            <a:off x="6473952" y="365760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365760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0D3FF"/>
                </a:solidFill>
                <a:latin typeface="Aptos"/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3648456"/>
            <a:ext cx="41605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Interactive trend dashboards</a:t>
            </a:r>
          </a:p>
        </p:txBody>
      </p:sp>
      <p:sp>
        <p:nvSpPr>
          <p:cNvPr id="36" name="Oval 35"/>
          <p:cNvSpPr/>
          <p:nvPr/>
        </p:nvSpPr>
        <p:spPr>
          <a:xfrm>
            <a:off x="6473952" y="416052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416052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0D3FF"/>
                </a:solidFill>
                <a:latin typeface="Aptos"/>
              </a:rPr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4151376"/>
            <a:ext cx="41605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Multi-location analytics</a:t>
            </a:r>
          </a:p>
        </p:txBody>
      </p:sp>
      <p:sp>
        <p:nvSpPr>
          <p:cNvPr id="39" name="Oval 38"/>
          <p:cNvSpPr/>
          <p:nvPr/>
        </p:nvSpPr>
        <p:spPr>
          <a:xfrm>
            <a:off x="6473952" y="4663440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3952" y="4663440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0D3FF"/>
                </a:solidFill>
                <a:latin typeface="Aptos"/>
              </a:rPr>
              <a:t>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1152" y="4654296"/>
            <a:ext cx="41605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Notifications and mobile access</a:t>
            </a:r>
          </a:p>
        </p:txBody>
      </p:sp>
      <p:sp>
        <p:nvSpPr>
          <p:cNvPr id="42" name="Oval 41"/>
          <p:cNvSpPr/>
          <p:nvPr/>
        </p:nvSpPr>
        <p:spPr>
          <a:xfrm>
            <a:off x="6473952" y="5166359"/>
            <a:ext cx="292608" cy="292608"/>
          </a:xfrm>
          <a:prstGeom prst="ellipse">
            <a:avLst/>
          </a:prstGeom>
          <a:solidFill>
            <a:srgbClr val="14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2" y="5166359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0D3FF"/>
                </a:solidFill>
                <a:latin typeface="Aptos"/>
              </a:rPr>
              <a:t>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1152" y="5157216"/>
            <a:ext cx="41605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1F8FC"/>
                </a:solidFill>
                <a:latin typeface="Aptos"/>
              </a:rPr>
              <a:t>Predictive leak / usage insights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9DB5C6"/>
                </a:solidFill>
                <a:latin typeface="Aptos"/>
              </a:rPr>
              <a:t>AQUAGUARD  •  HACK-AI-THON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50" b="1">
                <a:solidFill>
                  <a:srgbClr val="00D3F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45720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00D3FF"/>
                </a:solidFill>
                <a:latin typeface="Aptos"/>
              </a:rPr>
              <a:t>AquaGuard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6217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1EBCD"/>
                </a:solidFill>
                <a:latin typeface="Aptos"/>
              </a:rPr>
              <a:t>MEASURE  •  UNDERSTAND  • 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6400800" cy="11887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1F8FC"/>
                </a:solidFill>
                <a:latin typeface="Aptos"/>
              </a:rPr>
              <a:t>Better water decisions
start with better visibility.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0"/>
            <a:ext cx="66751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DB5C6"/>
                </a:solidFill>
                <a:latin typeface="Aptos"/>
              </a:rPr>
              <a:t>Python + OOP • SDG 6 • SDG 12 • Functional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681728"/>
            <a:ext cx="2286000" cy="91440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91456"/>
            <a:ext cx="20116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01768"/>
            <a:ext cx="20116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1F8FC"/>
                </a:solidFill>
                <a:latin typeface="Aptos"/>
              </a:rPr>
              <a:t>MONITORED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67528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19" b="1">
                <a:solidFill>
                  <a:srgbClr val="00D3FF"/>
                </a:solidFill>
                <a:latin typeface="Aptos"/>
              </a:rPr>
              <a:t>quality + usage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4681728"/>
            <a:ext cx="2286000" cy="91440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4791456"/>
            <a:ext cx="20116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001768"/>
            <a:ext cx="20116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1F8FC"/>
                </a:solidFill>
                <a:latin typeface="Aptos"/>
              </a:rPr>
              <a:t>GENERATED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367528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19" b="1">
                <a:solidFill>
                  <a:srgbClr val="41EBCD"/>
                </a:solidFill>
                <a:latin typeface="Aptos"/>
              </a:rPr>
              <a:t>trends +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4681728"/>
            <a:ext cx="2286000" cy="914400"/>
          </a:xfrm>
          <a:prstGeom prst="round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4791456"/>
            <a:ext cx="20116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9DB5C6"/>
                </a:solidFill>
                <a:latin typeface="Aptos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5001768"/>
            <a:ext cx="20116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1F8FC"/>
                </a:solidFill>
                <a:latin typeface="Aptos"/>
              </a:rPr>
              <a:t>RECOMMENDED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5367528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19" b="1">
                <a:solidFill>
                  <a:srgbClr val="FFBE47"/>
                </a:solidFill>
                <a:latin typeface="Aptos"/>
              </a:rPr>
              <a:t>conservation</a:t>
            </a:r>
          </a:p>
        </p:txBody>
      </p:sp>
      <p:sp>
        <p:nvSpPr>
          <p:cNvPr id="18" name="Teardrop 17"/>
          <p:cNvSpPr/>
          <p:nvPr/>
        </p:nvSpPr>
        <p:spPr>
          <a:xfrm>
            <a:off x="8869680" y="1051560"/>
            <a:ext cx="2423160" cy="3383280"/>
          </a:xfrm>
          <a:prstGeom prst="teardrop">
            <a:avLst/>
          </a:prstGeom>
          <a:solidFill>
            <a:srgbClr val="0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2011680"/>
            <a:ext cx="1234440" cy="7315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3400" b="1">
                <a:solidFill>
                  <a:srgbClr val="07101C"/>
                </a:solidFill>
                <a:latin typeface="Apto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572000"/>
            <a:ext cx="35661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1F8FC"/>
                </a:solidFill>
                <a:latin typeface="Aptos"/>
              </a:rPr>
              <a:t>What does today's
water data say about tomorrow?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5715000"/>
            <a:ext cx="2011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0D3FF"/>
                </a:solidFill>
                <a:latin typeface="Aptos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9DB5C6"/>
                </a:solidFill>
                <a:latin typeface="Aptos"/>
              </a:rPr>
              <a:t>AQUAGUARD  •  HACK-AI-THON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50" b="1">
                <a:solidFill>
                  <a:srgbClr val="00D3F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AquaGuard – Community Water Quality &amp; Usage Monitor</dc:title>
  <dc:subject>Hack-AI-Thon 2026 Premium Presentation</dc:subject>
  <dc:creator>AquaGuard</dc:creator>
  <cp:keywords>Python, OOP, SDG 6, SDG 12, water monitoring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