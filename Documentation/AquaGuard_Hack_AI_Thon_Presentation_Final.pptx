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32004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91695" cy="320040"/>
          </a:xfrm>
          <a:prstGeom prst="rect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640080"/>
            <a:ext cx="1097280" cy="1097280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95560" y="960120"/>
            <a:ext cx="457200" cy="457200"/>
          </a:xfrm>
          <a:prstGeom prst="ellipse">
            <a:avLst/>
          </a:prstGeom>
          <a:solidFill>
            <a:srgbClr val="081C30"/>
          </a:solidFill>
          <a:ln>
            <a:solidFill>
              <a:srgbClr val="08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685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F8FCFD"/>
                </a:solidFill>
                <a:latin typeface="Aptos"/>
              </a:rPr>
              <a:t>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7955279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8FCFD"/>
                </a:solidFill>
                <a:latin typeface="Aptos"/>
              </a:rPr>
              <a:t>AQUAGUARD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8961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DDF0F2"/>
                </a:solidFill>
                <a:latin typeface="Aptos"/>
              </a:rPr>
              <a:t>Community Water Quality &amp; Usage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0672"/>
            <a:ext cx="8961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DCBD4"/>
                </a:solidFill>
                <a:latin typeface="Aptos"/>
              </a:rPr>
              <a:t>Monitor water. Detect problems. Encourage conservation.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22191"/>
            <a:ext cx="2148840" cy="38404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95344"/>
            <a:ext cx="1920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HACK-AI-THON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6FE7BF"/>
                </a:solidFill>
                <a:latin typeface="Aptos"/>
              </a:rPr>
              <a:t>SDG 6  •  SDG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10912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Python Fundamentals + Object-Oriented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NATIONAL LEVEL GROUP PROJECT  •  PYTHON + OOP + SDGs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Why AquaGuard?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607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DDF0F2"/>
                </a:solidFill>
                <a:latin typeface="Aptos"/>
              </a:rPr>
              <a:t>Water problems are often invisible until they become serious.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3401568" cy="2331720"/>
          </a:xfrm>
          <a:prstGeom prst="roundRect">
            <a:avLst/>
          </a:prstGeom>
          <a:solidFill>
            <a:srgbClr val="0F2D3E"/>
          </a:solidFill>
          <a:ln>
            <a:solidFill>
              <a:srgbClr val="1B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679192"/>
            <a:ext cx="475488" cy="475488"/>
          </a:xfrm>
          <a:prstGeom prst="ellipse">
            <a:avLst/>
          </a:prstGeom>
          <a:solidFill>
            <a:srgbClr val="F4B4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88336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31012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Excessive 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730752"/>
            <a:ext cx="281635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Daily water use can rise without users noticing.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423160"/>
            <a:ext cx="3401568" cy="2331720"/>
          </a:xfrm>
          <a:prstGeom prst="roundRect">
            <a:avLst/>
          </a:prstGeom>
          <a:solidFill>
            <a:srgbClr val="0F2D3E"/>
          </a:solidFill>
          <a:ln>
            <a:solidFill>
              <a:srgbClr val="1B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679192"/>
            <a:ext cx="475488" cy="475488"/>
          </a:xfrm>
          <a:prstGeom prst="ellipse">
            <a:avLst/>
          </a:prstGeom>
          <a:solidFill>
            <a:srgbClr val="EC5B5B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688336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1012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Quality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30752"/>
            <a:ext cx="281635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Unusual pH or turbidity can signal a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423160"/>
            <a:ext cx="3401568" cy="2331720"/>
          </a:xfrm>
          <a:prstGeom prst="roundRect">
            <a:avLst/>
          </a:prstGeom>
          <a:solidFill>
            <a:srgbClr val="0F2D3E"/>
          </a:solidFill>
          <a:ln>
            <a:solidFill>
              <a:srgbClr val="1B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85048" y="2679192"/>
            <a:ext cx="475488" cy="475488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2688336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31012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Changing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730752"/>
            <a:ext cx="281635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A simple trend can reveal possible wastage.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66360"/>
            <a:ext cx="10972800" cy="749808"/>
          </a:xfrm>
          <a:prstGeom prst="roundRect">
            <a:avLst/>
          </a:prstGeom>
          <a:solidFill>
            <a:srgbClr val="0C3446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58384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CFD"/>
                </a:solidFill>
                <a:latin typeface="Aptos"/>
              </a:rPr>
              <a:t>AquaGuard's goal: </a:t>
            </a:r>
            <a:r>
              <a:rPr sz="1500" b="0">
                <a:solidFill>
                  <a:srgbClr val="DDF0F2"/>
                </a:solidFill>
                <a:latin typeface="Aptos"/>
              </a:rPr>
              <a:t>turn simple observations into clear alerts, trends and 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What AquaGuard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074920" cy="1572768"/>
          </a:xfrm>
          <a:prstGeom prst="roundRect">
            <a:avLst/>
          </a:prstGeom>
          <a:solidFill>
            <a:srgbClr val="0F2D3E"/>
          </a:solidFill>
          <a:ln>
            <a:solidFill>
              <a:srgbClr val="1D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DCBD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842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CFD"/>
                </a:solidFill>
                <a:latin typeface="Aptos"/>
              </a:rPr>
              <a:t>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04872"/>
            <a:ext cx="3794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Location, user and daily water readings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074920" cy="1572768"/>
          </a:xfrm>
          <a:prstGeom prst="roundRect">
            <a:avLst/>
          </a:prstGeom>
          <a:solidFill>
            <a:srgbClr val="0F2D3E"/>
          </a:solidFill>
          <a:ln>
            <a:solidFill>
              <a:srgbClr val="1D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01168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DCBD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9842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CFD"/>
                </a:solidFill>
                <a:latin typeface="Aptos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404872"/>
            <a:ext cx="3794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pH, turbidity and consumption against selected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074920" cy="1572768"/>
          </a:xfrm>
          <a:prstGeom prst="roundRect">
            <a:avLst/>
          </a:prstGeom>
          <a:solidFill>
            <a:srgbClr val="0F2D3E"/>
          </a:solidFill>
          <a:ln>
            <a:solidFill>
              <a:srgbClr val="1D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6908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DCBD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416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CFD"/>
                </a:solidFill>
                <a:latin typeface="Aptos"/>
              </a:rPr>
              <a:t>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2272"/>
            <a:ext cx="3794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Unsafe or abnormal conditions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840480"/>
            <a:ext cx="5074920" cy="1572768"/>
          </a:xfrm>
          <a:prstGeom prst="roundRect">
            <a:avLst/>
          </a:prstGeom>
          <a:solidFill>
            <a:srgbClr val="0F2D3E"/>
          </a:solidFill>
          <a:ln>
            <a:solidFill>
              <a:srgbClr val="1D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06908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DCBD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0416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CFD"/>
                </a:solidFill>
                <a:latin typeface="Aptos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462272"/>
            <a:ext cx="3794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Trends, alerts and conservation 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5806440"/>
            <a:ext cx="7223760" cy="38404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5888736"/>
            <a:ext cx="6949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SIMPLE INPUT  →  CLEAR DECISION  →  ACTIONABLE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SDG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Built around SDG 6 + SDG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3337560"/>
          </a:xfrm>
          <a:prstGeom prst="roundRect">
            <a:avLst/>
          </a:prstGeom>
          <a:solidFill>
            <a:srgbClr val="093950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1887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2DCBD4"/>
                </a:solidFill>
                <a:latin typeface="Aptos"/>
              </a:rPr>
              <a:t>SDG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9192"/>
            <a:ext cx="4389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8FCFD"/>
                </a:solidFill>
                <a:latin typeface="Aptos"/>
              </a:rPr>
              <a:t>Clean Water &amp; Sanitation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419856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337560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Monitors basic water-quality observations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904487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822191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Flags potentially unsafe pH and turbidity readings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389120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306824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Encourages further testing when readings are abnormal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303520" cy="3337560"/>
          </a:xfrm>
          <a:prstGeom prst="roundRect">
            <a:avLst/>
          </a:prstGeom>
          <a:solidFill>
            <a:srgbClr val="0A4339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4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6FE7BF"/>
                </a:solidFill>
                <a:latin typeface="Aptos"/>
              </a:rPr>
              <a:t>SDG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79192"/>
            <a:ext cx="4389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8FCFD"/>
                </a:solidFill>
                <a:latin typeface="Aptos"/>
              </a:rPr>
              <a:t>Responsible Consumption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3419856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3337560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Tracks daily water consumption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904487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3822191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Flags excessive use using a selected limit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4389120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4306824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Suggests conservation actions and leak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DDF0F2"/>
                </a:solidFill>
                <a:latin typeface="Aptos"/>
              </a:rPr>
              <a:t>The challenge explicitly aligns AquaGuard with SDG 6 and SDG 12.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Simple OOP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508760"/>
          </a:xfrm>
          <a:prstGeom prst="roundRect">
            <a:avLst/>
          </a:prstGeom>
          <a:solidFill>
            <a:srgbClr val="0F2D3E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139696"/>
            <a:ext cx="201168" cy="201168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20574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542032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name • address • location_type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03520" cy="1508760"/>
          </a:xfrm>
          <a:prstGeom prst="roundRect">
            <a:avLst/>
          </a:prstGeom>
          <a:solidFill>
            <a:srgbClr val="0F2D3E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9672" y="2139696"/>
            <a:ext cx="201168" cy="201168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1" y="20574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2542032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user_id • name •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03520" cy="1508760"/>
          </a:xfrm>
          <a:prstGeom prst="roundRect">
            <a:avLst/>
          </a:prstGeom>
          <a:solidFill>
            <a:srgbClr val="0F2D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4197096"/>
            <a:ext cx="201168" cy="201168"/>
          </a:xfrm>
          <a:prstGeom prst="ellipse">
            <a:avLst/>
          </a:prstGeom>
          <a:solidFill>
            <a:srgbClr val="F4B4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1148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WaterReading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599432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date • location • user • consumption • pH • turbidity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86200"/>
            <a:ext cx="5303520" cy="1508760"/>
          </a:xfrm>
          <a:prstGeom prst="roundRect">
            <a:avLst/>
          </a:prstGeom>
          <a:solidFill>
            <a:srgbClr val="0F2D3E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4197096"/>
            <a:ext cx="201168" cy="201168"/>
          </a:xfrm>
          <a:prstGeom prst="ellipse">
            <a:avLst/>
          </a:prstGeom>
          <a:solidFill>
            <a:srgbClr val="EC5B5B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1" y="41148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MonitoringReport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1" y="4599432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readings • trends • alerts •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789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DF0F2"/>
                </a:solidFill>
                <a:latin typeface="Aptos"/>
              </a:rPr>
              <a:t>Four focused classes keep the prototype understandable and aligned with the OOP requirement.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From reading to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148840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07568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148840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7568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Water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2148840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828800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99" y="201168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7" y="207568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Threshold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1" y="3072384"/>
            <a:ext cx="320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39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224527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977639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416052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4224527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387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387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77639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16052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224527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Recommendations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39" y="3977639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3999" y="416052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7" y="4224527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8840" y="5577840"/>
            <a:ext cx="7909560" cy="457200"/>
          </a:xfrm>
          <a:prstGeom prst="roundRect">
            <a:avLst/>
          </a:prstGeom>
          <a:solidFill>
            <a:srgbClr val="0B3748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5687568"/>
            <a:ext cx="7543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DCBD4"/>
                </a:solidFill>
                <a:latin typeface="Aptos"/>
              </a:rPr>
              <a:t>INPUT  →  ANALYSIS  →  ALERTS  →  CONSERVATION 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How abnormal readings are detected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01568" cy="2011680"/>
          </a:xfrm>
          <a:prstGeom prst="roundRect">
            <a:avLst/>
          </a:prstGeom>
          <a:solidFill>
            <a:srgbClr val="0F2D3E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84831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9DBCC5"/>
                </a:solidFill>
                <a:latin typeface="Aptos"/>
              </a:rPr>
              <a:t>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42032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8FCFD"/>
                </a:solidFill>
                <a:latin typeface="Aptos"/>
              </a:rPr>
              <a:t>6.5 – 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638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Safe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401568" cy="2011680"/>
          </a:xfrm>
          <a:prstGeom prst="roundRect">
            <a:avLst/>
          </a:prstGeom>
          <a:solidFill>
            <a:srgbClr val="0F2D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84831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9DBCC5"/>
                </a:solidFill>
                <a:latin typeface="Aptos"/>
              </a:rPr>
              <a:t>Turbidity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42032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8FCFD"/>
                </a:solidFill>
                <a:latin typeface="Aptos"/>
              </a:rPr>
              <a:t>≤ 5.0 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638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B43E"/>
                </a:solidFill>
                <a:latin typeface="Aptos"/>
              </a:rPr>
              <a:t>Selected limit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401568" cy="2011680"/>
          </a:xfrm>
          <a:prstGeom prst="roundRect">
            <a:avLst/>
          </a:prstGeom>
          <a:solidFill>
            <a:srgbClr val="0F2D3E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2084831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9DBCC5"/>
                </a:solidFill>
                <a:latin typeface="Aptos"/>
              </a:rPr>
              <a:t>Consumption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2542032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8FCFD"/>
                </a:solidFill>
                <a:latin typeface="Aptos"/>
              </a:rPr>
              <a:t>≤ 500 L/day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31638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FE7BF"/>
                </a:solidFill>
                <a:latin typeface="Aptos"/>
              </a:rPr>
              <a:t>Selected limit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10972800" cy="1097280"/>
          </a:xfrm>
          <a:prstGeom prst="roundRect">
            <a:avLst/>
          </a:prstGeom>
          <a:solidFill>
            <a:srgbClr val="0A2F3F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37490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If a reading crosses a selected threshold: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0560"/>
            <a:ext cx="6309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DCBD4"/>
                </a:solidFill>
                <a:latin typeface="Aptos"/>
              </a:rPr>
              <a:t>→ abnormal condition  →  alert  → 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9DBCC5"/>
                </a:solidFill>
                <a:latin typeface="Aptos"/>
              </a:rPr>
              <a:t>Note: threshold values are project-defined demonstration values, not numbers supplied by the challenge.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DEMO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Representative sample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6858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DF0F2"/>
                </a:solidFill>
                <a:latin typeface="Aptos"/>
              </a:rPr>
              <a:t>House 12B  •  Green Park Colony  •  Household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Recorded by: Priya Sharma (U101)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73736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2752344"/>
            <a:ext cx="1591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2606040"/>
            <a:ext cx="201168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1" y="2752344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CONSUMPTION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06040"/>
            <a:ext cx="146304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752344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606040"/>
            <a:ext cx="192024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752344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TURBIDITY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606040"/>
            <a:ext cx="201168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752344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72968"/>
            <a:ext cx="173736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" y="3319272"/>
            <a:ext cx="1591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2026-09-10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39" y="317296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1" y="331927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320 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172968"/>
            <a:ext cx="14630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319272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7.1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172968"/>
            <a:ext cx="19202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25312" y="331927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2.3 NTU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17296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331927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41BE7D"/>
                </a:solidFill>
                <a:latin typeface="Aptos"/>
              </a:rPr>
              <a:t>SAFE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13048"/>
            <a:ext cx="173736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1" y="3959352"/>
            <a:ext cx="1591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2026-09-11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39" y="381304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1" y="395935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450 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813048"/>
            <a:ext cx="14630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959352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6.2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3813048"/>
            <a:ext cx="19202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5312" y="395935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6.8 NTU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81304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95935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C5B5B"/>
                </a:solidFill>
                <a:latin typeface="Aptos"/>
              </a:rPr>
              <a:t>UNSAFE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453128"/>
            <a:ext cx="173736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1" y="4599432"/>
            <a:ext cx="1591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2026-09-12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39" y="445312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0591" y="459943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510 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4453128"/>
            <a:ext cx="14630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4599432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7.4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52160" y="4453128"/>
            <a:ext cx="19202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25312" y="459943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3.1 NTU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445312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45552" y="459943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41BE7D"/>
                </a:solidFill>
                <a:latin typeface="Aptos"/>
              </a:rPr>
              <a:t>SAFE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2606040"/>
            <a:ext cx="2148840" cy="2423160"/>
          </a:xfrm>
          <a:prstGeom prst="roundRect">
            <a:avLst/>
          </a:prstGeom>
          <a:solidFill>
            <a:srgbClr val="0A3445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292608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DCBD4"/>
                </a:solidFill>
                <a:latin typeface="Aptos"/>
              </a:rPr>
              <a:t>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3401568"/>
            <a:ext cx="1645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 i="0">
                <a:solidFill>
                  <a:srgbClr val="F8FCFD"/>
                </a:solidFill>
                <a:latin typeface="Aptos"/>
              </a:rPr>
              <a:t>3 readings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0928" y="3977639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9DBCC5"/>
                </a:solidFill>
                <a:latin typeface="Aptos"/>
              </a:rPr>
              <a:t>1 unsafe quality reading
1 excessive-use reading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DF0F2"/>
                </a:solidFill>
                <a:latin typeface="Aptos"/>
              </a:rPr>
              <a:t>The sample data is designed to demonstrate both normal and abnormal conditions.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What the prototype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01568" cy="1691640"/>
          </a:xfrm>
          <a:prstGeom prst="roundRect">
            <a:avLst/>
          </a:prstGeom>
          <a:solidFill>
            <a:srgbClr val="0F2D3E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EC5B5B"/>
                </a:solidFill>
                <a:latin typeface="Aptos"/>
              </a:rPr>
              <a:t>ATTENTION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9DBCC5"/>
                </a:solidFill>
                <a:latin typeface="Aptos"/>
              </a:rPr>
              <a:t>Overall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401568" cy="1691640"/>
          </a:xfrm>
          <a:prstGeom prst="roundRect">
            <a:avLst/>
          </a:prstGeom>
          <a:solidFill>
            <a:srgbClr val="0F2D3E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DCBD4"/>
                </a:solidFill>
                <a:latin typeface="Aptos"/>
              </a:rPr>
              <a:t>426.7 L/day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862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9DBCC5"/>
                </a:solidFill>
                <a:latin typeface="Aptos"/>
              </a:rPr>
              <a:t>Average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828800"/>
            <a:ext cx="3401568" cy="1691640"/>
          </a:xfrm>
          <a:prstGeom prst="roundRect">
            <a:avLst/>
          </a:prstGeom>
          <a:solidFill>
            <a:srgbClr val="0F2D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4B43E"/>
                </a:solidFill>
                <a:latin typeface="Aptos"/>
              </a:rPr>
              <a:t>Increasing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5" y="2862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9DBCC5"/>
                </a:solidFill>
                <a:latin typeface="Aptos"/>
              </a:rPr>
              <a:t>Consumption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972800" cy="1508760"/>
          </a:xfrm>
          <a:prstGeom prst="roundRect">
            <a:avLst/>
          </a:prstGeom>
          <a:solidFill>
            <a:srgbClr val="0A3242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Detected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10058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• Low pH (6.2)     • High turbidity (6.8 NTU)     • High consumption (510 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DBCC5"/>
                </a:solidFill>
                <a:latin typeface="Aptos"/>
              </a:rPr>
              <a:t>Recommended actions include leak checking, reducing usage, further water testing and filtration consideration.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The monitoring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4160520"/>
          </a:xfrm>
          <a:prstGeom prst="roundRect">
            <a:avLst/>
          </a:prstGeom>
          <a:solidFill>
            <a:srgbClr val="F4F9FA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1"/>
            <a:ext cx="65836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F2D3E"/>
                </a:solidFill>
                <a:latin typeface="Aptos"/>
              </a:rPr>
              <a:t>AQUAGUARD MONITORING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12140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09999"/>
                </a:solidFill>
                <a:latin typeface="Aptos"/>
              </a:rPr>
              <a:t>WR-001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670048"/>
            <a:ext cx="1001268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971800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House 12B (Green Park Colony)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4728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447288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C5B5B"/>
                </a:solidFill>
                <a:latin typeface="Aptos"/>
              </a:rPr>
              <a:t>ATTENTION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22776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Total readings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922776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98264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Average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398264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426.7 litres/day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7375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873752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Increasing (possible wastage)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949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9999"/>
                </a:solidFill>
                <a:latin typeface="Aptos"/>
              </a:rPr>
              <a:t>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394960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Low pH  •  High turbidity  •  High consumption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What to show the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856231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47672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83080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CFD"/>
                </a:solidFill>
                <a:latin typeface="Aptos"/>
              </a:rPr>
              <a:t>Run the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7406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Execute main.py and display the generated report.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35224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26664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62072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CFD"/>
                </a:solidFill>
                <a:latin typeface="Aptos"/>
              </a:rPr>
              <a:t>Explain the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62072"/>
            <a:ext cx="7406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Briefly explain Location, User, WaterReading and MonitoringReport.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014215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105655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41063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CFD"/>
                </a:solidFill>
                <a:latin typeface="Aptos"/>
              </a:rPr>
              <a:t>Point out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41063"/>
            <a:ext cx="7406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Show the low pH, high turbidity and high consumption alerts.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093208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84648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20056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CFD"/>
                </a:solidFill>
                <a:latin typeface="Aptos"/>
              </a:rPr>
              <a:t>Connect to SDGs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20056"/>
            <a:ext cx="7406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Explain how monitoring quality supports SDG 6 and conservation supports SDG 12.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897880"/>
            <a:ext cx="8503920" cy="347472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5980176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KEEP THE DEMO SIMPLE • SHOW THE WORKING PROTOTYPE • EXPLAIN THE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Normal + abnormal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914400"/>
          </a:xfrm>
          <a:prstGeom prst="roundRect">
            <a:avLst/>
          </a:prstGeom>
          <a:solidFill>
            <a:srgbClr val="0F2D3E"/>
          </a:solidFill>
          <a:ln>
            <a:solidFill>
              <a:srgbClr val="41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84832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41BE7D"/>
                </a:solidFill>
                <a:latin typeface="Aptos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01168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8FCFD"/>
                </a:solidFill>
                <a:latin typeface="Aptos"/>
              </a:rPr>
              <a:t>320 L • pH 7.1 • 2.3 NTU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3886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Safe water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10835640" cy="914400"/>
          </a:xfrm>
          <a:prstGeom prst="roundRect">
            <a:avLst/>
          </a:prstGeom>
          <a:solidFill>
            <a:srgbClr val="0F2D3E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C5B5B"/>
                </a:solidFill>
                <a:latin typeface="Aptos"/>
              </a:rPr>
              <a:t>QUALITY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24612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8FCFD"/>
                </a:solidFill>
                <a:latin typeface="Aptos"/>
              </a:rPr>
              <a:t>450 L • pH 6.2 • 6.8 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246120"/>
            <a:ext cx="3886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Unsafe + pH/turbidity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97680"/>
            <a:ext cx="10835640" cy="914400"/>
          </a:xfrm>
          <a:prstGeom prst="roundRect">
            <a:avLst/>
          </a:prstGeom>
          <a:solidFill>
            <a:srgbClr val="0F2D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53712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B43E"/>
                </a:solidFill>
                <a:latin typeface="Aptos"/>
              </a:rPr>
              <a:t>USAGE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48056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8FCFD"/>
                </a:solidFill>
                <a:latin typeface="Aptos"/>
              </a:rPr>
              <a:t>510 L • pH 7.4 • 3.1 NTU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480560"/>
            <a:ext cx="3886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High consumption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DF0F2"/>
                </a:solidFill>
                <a:latin typeface="Aptos"/>
              </a:rPr>
              <a:t>Testing uses representative sample data as required for the working prototype demonstration.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Current prototype vs.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57800" cy="361188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DCBD4"/>
                </a:solidFill>
                <a:latin typeface="Aptos"/>
              </a:rPr>
              <a:t>CURRENT PROTOTYPE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779776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697480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Python + OOP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200400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118104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Sample data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621024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538728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pH + turbidity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041648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959352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Consumption + trend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462272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4379976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Alerts + recommendations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882896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800600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Monitoring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257800" cy="3611880"/>
          </a:xfrm>
          <a:prstGeom prst="roundRect">
            <a:avLst/>
          </a:prstGeom>
          <a:solidFill>
            <a:srgbClr val="0F2D3E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48840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6FE7BF"/>
                </a:solidFill>
                <a:latin typeface="Aptos"/>
              </a:rPr>
              <a:t>FUTURE IMPROVEMENTS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779776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697480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Graphical user interface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00400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118104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Database storage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621024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538728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Real-time sensors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041648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3959352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More water-quality parameters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462272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4379976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Charts and dashboards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882896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4800600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Automatic data collection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7150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9DBCC5"/>
                </a:solidFill>
                <a:latin typeface="Aptos"/>
              </a:rPr>
              <a:t>Future features are intentionally outside the scope of the current prototype.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Why AquaGuard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8FCFD"/>
                </a:solidFill>
                <a:latin typeface="Aptos"/>
              </a:rPr>
              <a:t>A small monitoring system can make water use and water quality easier to understand.</a:t>
            </a:r>
          </a:p>
        </p:txBody>
      </p:sp>
      <p:sp>
        <p:nvSpPr>
          <p:cNvPr id="7" name="Oval 6"/>
          <p:cNvSpPr/>
          <p:nvPr/>
        </p:nvSpPr>
        <p:spPr>
          <a:xfrm>
            <a:off x="1783080" y="2788920"/>
            <a:ext cx="777240" cy="777240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871216"/>
            <a:ext cx="685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8FCFD"/>
                </a:solidFill>
                <a:latin typeface="Aptos"/>
              </a:rPr>
              <a:t>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2560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9DBCC5"/>
                </a:solidFill>
                <a:latin typeface="Aptos"/>
              </a:rPr>
              <a:t>Record water use and quality.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788920"/>
            <a:ext cx="777240" cy="777240"/>
          </a:xfrm>
          <a:prstGeom prst="ellipse">
            <a:avLst/>
          </a:prstGeom>
          <a:solidFill>
            <a:srgbClr val="F4B4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871216"/>
            <a:ext cx="685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8FCFD"/>
                </a:solidFill>
                <a:latin typeface="Aptos"/>
              </a:rP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67328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224528"/>
            <a:ext cx="2560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9DBCC5"/>
                </a:solidFill>
                <a:latin typeface="Aptos"/>
              </a:rPr>
              <a:t>Flag abnormal conditions.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9189719" y="2788920"/>
            <a:ext cx="777240" cy="777240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871216"/>
            <a:ext cx="685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8FCFD"/>
                </a:solidFill>
                <a:latin typeface="Aptos"/>
              </a:rPr>
              <a:t>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67328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CONSERVE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24528"/>
            <a:ext cx="2560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9DBCC5"/>
                </a:solidFill>
                <a:latin typeface="Aptos"/>
              </a:rPr>
              <a:t>Turn alerts into responsible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5349240"/>
            <a:ext cx="6080760" cy="56692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5504688"/>
            <a:ext cx="5715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8FCFD"/>
                </a:solidFill>
                <a:latin typeface="Aptos"/>
              </a:rPr>
              <a:t>SDG 6  •  SDG 12  •  PYTHON + 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44768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2DCBD4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  •  THANK YOU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9FC"/>
                </a:solidFill>
                <a:latin typeface="Aptos"/>
              </a:rPr>
              <a:t>CODE &amp; OUTPUT — IMPLEMENTATION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8C9"/>
                </a:solidFill>
                <a:latin typeface="Aptos"/>
              </a:rPr>
              <a:t>Essential screenshots from the working AquaGuard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1325880" cy="41148"/>
          </a:xfrm>
          <a:prstGeom prst="rect">
            <a:avLst/>
          </a:prstGeom>
          <a:solidFill>
            <a:srgbClr val="22D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1F5DE"/>
                </a:solidFill>
                <a:latin typeface="Aptos"/>
              </a:rPr>
              <a:t>1  OOP CLASSES &amp; THRESHOLDS</a:t>
            </a:r>
          </a:p>
        </p:txBody>
      </p:sp>
      <p:pic>
        <p:nvPicPr>
          <p:cNvPr id="7" name="Picture 6" descr="aquaguard_code_star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73352"/>
            <a:ext cx="370332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26280" y="135331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1F5DE"/>
                </a:solidFill>
                <a:latin typeface="Aptos"/>
              </a:rPr>
              <a:t>2  REPORT GENERATION LOGIC</a:t>
            </a:r>
          </a:p>
        </p:txBody>
      </p:sp>
      <p:pic>
        <p:nvPicPr>
          <p:cNvPr id="9" name="Picture 8" descr="aquaguard_cod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673352"/>
            <a:ext cx="3703320" cy="461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135331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D2F5"/>
                </a:solidFill>
                <a:latin typeface="Aptos"/>
              </a:rPr>
              <a:t>3  SAMPLE RUN / OUTPUT</a:t>
            </a:r>
          </a:p>
        </p:txBody>
      </p:sp>
      <p:pic>
        <p:nvPicPr>
          <p:cNvPr id="11" name="Picture 10" descr="aquaguard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673352"/>
            <a:ext cx="3154680" cy="461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8C9"/>
                </a:solidFill>
                <a:latin typeface="Aptos"/>
              </a:rPr>
              <a:t>The prototype takes water readings, checks thresholds, identifies alerts, and produces a monitoring report.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30368" y="777240"/>
            <a:ext cx="1691640" cy="1691640"/>
          </a:xfrm>
          <a:prstGeom prst="ellipse">
            <a:avLst/>
          </a:prstGeom>
          <a:solidFill>
            <a:srgbClr val="0F2D41"/>
          </a:solidFill>
          <a:ln>
            <a:solidFill>
              <a:srgbClr val="22D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0368" y="932688"/>
            <a:ext cx="1691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0" b="0">
                <a:solidFill>
                  <a:srgbClr val="43D2F5"/>
                </a:solidFill>
                <a:latin typeface="Aptos"/>
              </a:rPr>
              <a:t>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60604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5F9FC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246120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1F5DE"/>
                </a:solidFill>
                <a:latin typeface="Aptos"/>
              </a:rPr>
              <a:t>AquaGuard – Community Water Quality &amp; Usage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79476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3D2F5"/>
                </a:solidFill>
                <a:latin typeface="Aptos"/>
              </a:rPr>
              <a:t>Project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4187952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5F9FC"/>
                </a:solidFill>
                <a:latin typeface="Aptos"/>
              </a:rPr>
              <a:t>Sanskriti Patel — Grade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4581144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5F9FC"/>
                </a:solidFill>
                <a:latin typeface="Aptos"/>
              </a:rPr>
              <a:t>Pramveer Kumar — Grade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974336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5F9FC"/>
                </a:solidFill>
                <a:latin typeface="Aptos"/>
              </a:rPr>
              <a:t>Agrima Jin — Grade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367527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5F9FC"/>
                </a:solidFill>
                <a:latin typeface="Aptos"/>
              </a:rPr>
              <a:t>Dhanvith J Patel — Grade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59893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6B8C9"/>
                </a:solidFill>
                <a:latin typeface="Aptos"/>
              </a:rPr>
              <a:t>SDG 6 • SDG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